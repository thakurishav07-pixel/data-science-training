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60" r:id="rId5"/>
    <p:sldId id="261" r:id="rId6"/>
    <p:sldId id="262" r:id="rId7"/>
    <p:sldId id="267" r:id="rId8"/>
    <p:sldId id="268" r:id="rId9"/>
    <p:sldId id="270" r:id="rId10"/>
    <p:sldId id="269"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368"/>
    <a:srgbClr val="363D7E"/>
    <a:srgbClr val="000099"/>
    <a:srgbClr val="333399"/>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3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av Thakur" userId="1c5062b4da7bad8f" providerId="LiveId" clId="{8E980571-8840-4314-8CE6-20E31B9D5C17}"/>
    <pc:docChg chg="custSel delSld modSld">
      <pc:chgData name="Rishav Thakur" userId="1c5062b4da7bad8f" providerId="LiveId" clId="{8E980571-8840-4314-8CE6-20E31B9D5C17}" dt="2026-07-05T17:11:53.454" v="33" actId="20577"/>
      <pc:docMkLst>
        <pc:docMk/>
      </pc:docMkLst>
      <pc:sldChg chg="modSp mod">
        <pc:chgData name="Rishav Thakur" userId="1c5062b4da7bad8f" providerId="LiveId" clId="{8E980571-8840-4314-8CE6-20E31B9D5C17}" dt="2026-07-05T17:11:53.454" v="33" actId="20577"/>
        <pc:sldMkLst>
          <pc:docMk/>
          <pc:sldMk cId="0" sldId="260"/>
        </pc:sldMkLst>
        <pc:spChg chg="mod">
          <ac:chgData name="Rishav Thakur" userId="1c5062b4da7bad8f" providerId="LiveId" clId="{8E980571-8840-4314-8CE6-20E31B9D5C17}" dt="2026-07-05T17:11:53.454" v="33" actId="20577"/>
          <ac:spMkLst>
            <pc:docMk/>
            <pc:sldMk cId="0" sldId="260"/>
            <ac:spMk id="18" creationId="{BCCE0020-5802-415B-F7CA-A2A773055383}"/>
          </ac:spMkLst>
        </pc:spChg>
      </pc:sldChg>
      <pc:sldChg chg="delSp modSp del mod">
        <pc:chgData name="Rishav Thakur" userId="1c5062b4da7bad8f" providerId="LiveId" clId="{8E980571-8840-4314-8CE6-20E31B9D5C17}" dt="2026-07-05T15:37:15.015" v="5" actId="2696"/>
        <pc:sldMkLst>
          <pc:docMk/>
          <pc:sldMk cId="0" sldId="266"/>
        </pc:sldMkLst>
        <pc:spChg chg="del">
          <ac:chgData name="Rishav Thakur" userId="1c5062b4da7bad8f" providerId="LiveId" clId="{8E980571-8840-4314-8CE6-20E31B9D5C17}" dt="2026-07-05T15:35:25.536" v="3" actId="478"/>
          <ac:spMkLst>
            <pc:docMk/>
            <pc:sldMk cId="0" sldId="266"/>
            <ac:spMk id="2" creationId="{00000000-0000-0000-0000-000000000000}"/>
          </ac:spMkLst>
        </pc:spChg>
        <pc:spChg chg="del">
          <ac:chgData name="Rishav Thakur" userId="1c5062b4da7bad8f" providerId="LiveId" clId="{8E980571-8840-4314-8CE6-20E31B9D5C17}" dt="2026-07-05T15:35:20.719" v="2" actId="478"/>
          <ac:spMkLst>
            <pc:docMk/>
            <pc:sldMk cId="0" sldId="266"/>
            <ac:spMk id="3" creationId="{00000000-0000-0000-0000-000000000000}"/>
          </ac:spMkLst>
        </pc:spChg>
        <pc:spChg chg="del mod">
          <ac:chgData name="Rishav Thakur" userId="1c5062b4da7bad8f" providerId="LiveId" clId="{8E980571-8840-4314-8CE6-20E31B9D5C17}" dt="2026-07-05T15:35:16.678" v="1" actId="478"/>
          <ac:spMkLst>
            <pc:docMk/>
            <pc:sldMk cId="0" sldId="266"/>
            <ac:spMk id="4" creationId="{00000000-0000-0000-0000-000000000000}"/>
          </ac:spMkLst>
        </pc:spChg>
        <pc:picChg chg="del">
          <ac:chgData name="Rishav Thakur" userId="1c5062b4da7bad8f" providerId="LiveId" clId="{8E980571-8840-4314-8CE6-20E31B9D5C17}" dt="2026-07-05T15:35:27.988" v="4" actId="478"/>
          <ac:picMkLst>
            <pc:docMk/>
            <pc:sldMk cId="0" sldId="266"/>
            <ac:picMk id="7" creationId="{5324B3CD-17DD-176E-2F8A-1C4787CB9F58}"/>
          </ac:picMkLst>
        </pc:picChg>
      </pc:sldChg>
      <pc:sldChg chg="addSp delSp modSp mod">
        <pc:chgData name="Rishav Thakur" userId="1c5062b4da7bad8f" providerId="LiveId" clId="{8E980571-8840-4314-8CE6-20E31B9D5C17}" dt="2026-07-05T16:49:13.156" v="31" actId="14100"/>
        <pc:sldMkLst>
          <pc:docMk/>
          <pc:sldMk cId="0" sldId="267"/>
        </pc:sldMkLst>
        <pc:spChg chg="mod">
          <ac:chgData name="Rishav Thakur" userId="1c5062b4da7bad8f" providerId="LiveId" clId="{8E980571-8840-4314-8CE6-20E31B9D5C17}" dt="2026-07-05T15:48:04.910" v="20" actId="20577"/>
          <ac:spMkLst>
            <pc:docMk/>
            <pc:sldMk cId="0" sldId="267"/>
            <ac:spMk id="3" creationId="{00000000-0000-0000-0000-000000000000}"/>
          </ac:spMkLst>
        </pc:spChg>
        <pc:picChg chg="add del mod">
          <ac:chgData name="Rishav Thakur" userId="1c5062b4da7bad8f" providerId="LiveId" clId="{8E980571-8840-4314-8CE6-20E31B9D5C17}" dt="2026-07-05T16:48:40.163" v="25" actId="478"/>
          <ac:picMkLst>
            <pc:docMk/>
            <pc:sldMk cId="0" sldId="267"/>
            <ac:picMk id="20" creationId="{85F7F46A-47F4-C1A9-EF9B-022212FE5463}"/>
          </ac:picMkLst>
        </pc:picChg>
        <pc:picChg chg="del">
          <ac:chgData name="Rishav Thakur" userId="1c5062b4da7bad8f" providerId="LiveId" clId="{8E980571-8840-4314-8CE6-20E31B9D5C17}" dt="2026-07-05T15:37:42.366" v="6" actId="478"/>
          <ac:picMkLst>
            <pc:docMk/>
            <pc:sldMk cId="0" sldId="267"/>
            <ac:picMk id="22" creationId="{3B41A626-9987-20A1-EAB2-E1B27259C04D}"/>
          </ac:picMkLst>
        </pc:picChg>
        <pc:picChg chg="add mod">
          <ac:chgData name="Rishav Thakur" userId="1c5062b4da7bad8f" providerId="LiveId" clId="{8E980571-8840-4314-8CE6-20E31B9D5C17}" dt="2026-07-05T16:49:13.156" v="31" actId="14100"/>
          <ac:picMkLst>
            <pc:docMk/>
            <pc:sldMk cId="0" sldId="267"/>
            <ac:picMk id="22" creationId="{FA648162-BD02-EECD-41E6-F4929C995D7D}"/>
          </ac:picMkLst>
        </pc:picChg>
      </pc:sldChg>
      <pc:sldChg chg="modSp mod">
        <pc:chgData name="Rishav Thakur" userId="1c5062b4da7bad8f" providerId="LiveId" clId="{8E980571-8840-4314-8CE6-20E31B9D5C17}" dt="2026-07-05T15:50:11.912" v="24" actId="20577"/>
        <pc:sldMkLst>
          <pc:docMk/>
          <pc:sldMk cId="0" sldId="269"/>
        </pc:sldMkLst>
        <pc:spChg chg="mod">
          <ac:chgData name="Rishav Thakur" userId="1c5062b4da7bad8f" providerId="LiveId" clId="{8E980571-8840-4314-8CE6-20E31B9D5C17}" dt="2026-07-05T15:50:11.912" v="24" actId="20577"/>
          <ac:spMkLst>
            <pc:docMk/>
            <pc:sldMk cId="0" sldId="269"/>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069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2563EB"/>
          </a:solidFill>
          <a:ln/>
        </p:spPr>
        <p:txBody>
          <a:bodyPr/>
          <a:lstStyle/>
          <a:p>
            <a:endParaRPr lang="en-IN"/>
          </a:p>
        </p:txBody>
      </p:sp>
      <p:sp>
        <p:nvSpPr>
          <p:cNvPr id="3" name="Shape 1"/>
          <p:cNvSpPr/>
          <p:nvPr/>
        </p:nvSpPr>
        <p:spPr>
          <a:xfrm>
            <a:off x="6858000" y="-731520"/>
            <a:ext cx="3657600" cy="3657600"/>
          </a:xfrm>
          <a:prstGeom prst="ellipse">
            <a:avLst/>
          </a:prstGeom>
          <a:solidFill>
            <a:srgbClr val="FFFFFF">
              <a:alpha val="6000"/>
            </a:srgbClr>
          </a:solidFill>
          <a:ln/>
        </p:spPr>
        <p:txBody>
          <a:bodyPr/>
          <a:lstStyle/>
          <a:p>
            <a:endParaRPr lang="en-IN"/>
          </a:p>
        </p:txBody>
      </p:sp>
      <p:sp>
        <p:nvSpPr>
          <p:cNvPr id="4" name="Shape 2"/>
          <p:cNvSpPr/>
          <p:nvPr/>
        </p:nvSpPr>
        <p:spPr>
          <a:xfrm>
            <a:off x="7498080" y="2286000"/>
            <a:ext cx="2286000" cy="2286000"/>
          </a:xfrm>
          <a:prstGeom prst="ellipse">
            <a:avLst/>
          </a:prstGeom>
          <a:solidFill>
            <a:srgbClr val="FFFFFF">
              <a:alpha val="4000"/>
            </a:srgbClr>
          </a:solidFill>
          <a:ln/>
        </p:spPr>
        <p:txBody>
          <a:bodyPr/>
          <a:lstStyle/>
          <a:p>
            <a:endParaRPr lang="en-IN"/>
          </a:p>
        </p:txBody>
      </p:sp>
      <p:sp>
        <p:nvSpPr>
          <p:cNvPr id="5" name="Text 3"/>
          <p:cNvSpPr/>
          <p:nvPr/>
        </p:nvSpPr>
        <p:spPr>
          <a:xfrm>
            <a:off x="502920" y="822960"/>
            <a:ext cx="7772400" cy="502920"/>
          </a:xfrm>
          <a:prstGeom prst="rect">
            <a:avLst/>
          </a:prstGeom>
          <a:noFill/>
          <a:ln/>
        </p:spPr>
        <p:txBody>
          <a:bodyPr wrap="square" rtlCol="0" anchor="ctr"/>
          <a:lstStyle/>
          <a:p>
            <a:pPr marL="0" indent="0">
              <a:buNone/>
            </a:pPr>
            <a:r>
              <a:rPr lang="en-US" sz="1300" b="1" kern="0" spc="400" dirty="0">
                <a:solidFill>
                  <a:srgbClr val="93C5FD"/>
                </a:solidFill>
                <a:latin typeface="Calibri" pitchFamily="34" charset="0"/>
                <a:ea typeface="Calibri" pitchFamily="34" charset="-122"/>
                <a:cs typeface="Calibri" pitchFamily="34" charset="-120"/>
              </a:rPr>
              <a:t>POWER BI PROJECT</a:t>
            </a:r>
            <a:endParaRPr lang="en-US" sz="1300" dirty="0"/>
          </a:p>
        </p:txBody>
      </p:sp>
      <p:sp>
        <p:nvSpPr>
          <p:cNvPr id="6" name="Text 4"/>
          <p:cNvSpPr/>
          <p:nvPr/>
        </p:nvSpPr>
        <p:spPr>
          <a:xfrm>
            <a:off x="502919" y="1325880"/>
            <a:ext cx="7925463"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rPr>
              <a:t>Superstore Sales Performance Analysis</a:t>
            </a:r>
            <a:endParaRPr lang="en-US" sz="3400" dirty="0"/>
          </a:p>
        </p:txBody>
      </p:sp>
      <p:sp>
        <p:nvSpPr>
          <p:cNvPr id="7" name="Text 5"/>
          <p:cNvSpPr/>
          <p:nvPr/>
        </p:nvSpPr>
        <p:spPr>
          <a:xfrm>
            <a:off x="502920" y="2560320"/>
            <a:ext cx="7772400" cy="365760"/>
          </a:xfrm>
          <a:prstGeom prst="rect">
            <a:avLst/>
          </a:prstGeom>
          <a:noFill/>
          <a:ln/>
        </p:spPr>
        <p:txBody>
          <a:bodyPr wrap="square" rtlCol="0" anchor="ctr"/>
          <a:lstStyle/>
          <a:p>
            <a:pPr marL="0" indent="0">
              <a:buNone/>
            </a:pPr>
            <a:r>
              <a:rPr lang="en-US" sz="1400" dirty="0">
                <a:solidFill>
                  <a:srgbClr val="BFDBFE"/>
                </a:solidFill>
                <a:latin typeface="Calibri" pitchFamily="34" charset="0"/>
                <a:ea typeface="Calibri" pitchFamily="34" charset="-122"/>
                <a:cs typeface="Calibri" pitchFamily="34" charset="-120"/>
              </a:rPr>
              <a:t>Summer Training — Power BI | CGC University Mohali</a:t>
            </a:r>
            <a:endParaRPr lang="en-US" sz="1400" dirty="0"/>
          </a:p>
        </p:txBody>
      </p:sp>
      <p:sp>
        <p:nvSpPr>
          <p:cNvPr id="8" name="Shape 6"/>
          <p:cNvSpPr/>
          <p:nvPr/>
        </p:nvSpPr>
        <p:spPr>
          <a:xfrm>
            <a:off x="256032" y="3931920"/>
            <a:ext cx="8887968" cy="1207008"/>
          </a:xfrm>
          <a:prstGeom prst="rect">
            <a:avLst/>
          </a:prstGeom>
          <a:solidFill>
            <a:srgbClr val="FFFFFF">
              <a:alpha val="8000"/>
            </a:srgbClr>
          </a:solidFill>
          <a:ln/>
        </p:spPr>
        <p:txBody>
          <a:bodyPr/>
          <a:lstStyle/>
          <a:p>
            <a:endParaRPr lang="en-IN"/>
          </a:p>
        </p:txBody>
      </p:sp>
      <p:sp>
        <p:nvSpPr>
          <p:cNvPr id="9" name="Text 7"/>
          <p:cNvSpPr/>
          <p:nvPr/>
        </p:nvSpPr>
        <p:spPr>
          <a:xfrm>
            <a:off x="457200" y="4005072"/>
            <a:ext cx="2011680" cy="274320"/>
          </a:xfrm>
          <a:prstGeom prst="rect">
            <a:avLst/>
          </a:prstGeom>
          <a:noFill/>
          <a:ln/>
        </p:spPr>
        <p:txBody>
          <a:bodyPr wrap="square" rtlCol="0" anchor="ctr"/>
          <a:lstStyle/>
          <a:p>
            <a:pPr marL="0" indent="0">
              <a:buNone/>
            </a:pPr>
            <a:r>
              <a:rPr lang="en-US" sz="900" dirty="0">
                <a:solidFill>
                  <a:srgbClr val="93C5FD"/>
                </a:solidFill>
                <a:latin typeface="Calibri" pitchFamily="34" charset="0"/>
                <a:ea typeface="Calibri" pitchFamily="34" charset="-122"/>
                <a:cs typeface="Calibri" pitchFamily="34" charset="-120"/>
              </a:rPr>
              <a:t>Presented by</a:t>
            </a:r>
            <a:endParaRPr lang="en-US" sz="900" dirty="0"/>
          </a:p>
        </p:txBody>
      </p:sp>
      <p:sp>
        <p:nvSpPr>
          <p:cNvPr id="10" name="Text 8"/>
          <p:cNvSpPr/>
          <p:nvPr/>
        </p:nvSpPr>
        <p:spPr>
          <a:xfrm>
            <a:off x="457200" y="4279392"/>
            <a:ext cx="2011680" cy="6400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Rishav Thakur  |  2419362</a:t>
            </a:r>
            <a:endParaRPr lang="en-US" sz="1200" dirty="0"/>
          </a:p>
        </p:txBody>
      </p:sp>
      <p:sp>
        <p:nvSpPr>
          <p:cNvPr id="11" name="Text 9"/>
          <p:cNvSpPr/>
          <p:nvPr/>
        </p:nvSpPr>
        <p:spPr>
          <a:xfrm>
            <a:off x="2606040" y="4005072"/>
            <a:ext cx="2011680" cy="274320"/>
          </a:xfrm>
          <a:prstGeom prst="rect">
            <a:avLst/>
          </a:prstGeom>
          <a:noFill/>
          <a:ln/>
        </p:spPr>
        <p:txBody>
          <a:bodyPr wrap="square" rtlCol="0" anchor="ctr"/>
          <a:lstStyle/>
          <a:p>
            <a:pPr marL="0" indent="0">
              <a:buNone/>
            </a:pPr>
            <a:r>
              <a:rPr lang="en-US" sz="900" dirty="0">
                <a:solidFill>
                  <a:srgbClr val="93C5FD"/>
                </a:solidFill>
                <a:latin typeface="Calibri" pitchFamily="34" charset="0"/>
                <a:ea typeface="Calibri" pitchFamily="34" charset="-122"/>
                <a:cs typeface="Calibri" pitchFamily="34" charset="-120"/>
              </a:rPr>
              <a:t>Course</a:t>
            </a:r>
            <a:endParaRPr lang="en-US" sz="900" dirty="0"/>
          </a:p>
        </p:txBody>
      </p:sp>
      <p:sp>
        <p:nvSpPr>
          <p:cNvPr id="12" name="Text 10"/>
          <p:cNvSpPr/>
          <p:nvPr/>
        </p:nvSpPr>
        <p:spPr>
          <a:xfrm>
            <a:off x="2606040" y="4279392"/>
            <a:ext cx="2011680" cy="640080"/>
          </a:xfrm>
          <a:prstGeom prst="rect">
            <a:avLst/>
          </a:prstGeom>
          <a:noFill/>
          <a:ln/>
        </p:spPr>
        <p:txBody>
          <a:bodyPr wrap="square" rtlCol="0" anchor="ctr"/>
          <a:lstStyle/>
          <a:p>
            <a:pPr marL="0" indent="0">
              <a:buNone/>
            </a:pPr>
            <a:r>
              <a:rPr lang="en-US" sz="1200" b="1" dirty="0" err="1">
                <a:solidFill>
                  <a:srgbClr val="FFFFFF"/>
                </a:solidFill>
                <a:latin typeface="Calibri" pitchFamily="34" charset="0"/>
                <a:ea typeface="Calibri" pitchFamily="34" charset="-122"/>
                <a:cs typeface="Calibri" pitchFamily="34" charset="-120"/>
              </a:rPr>
              <a:t>B.Tech</a:t>
            </a:r>
            <a:r>
              <a:rPr lang="en-US" sz="1200" b="1" dirty="0">
                <a:solidFill>
                  <a:srgbClr val="FFFFFF"/>
                </a:solidFill>
                <a:latin typeface="Calibri" pitchFamily="34" charset="0"/>
                <a:ea typeface="Calibri" pitchFamily="34" charset="-122"/>
                <a:cs typeface="Calibri" pitchFamily="34" charset="-120"/>
              </a:rPr>
              <a:t>  — CSE</a:t>
            </a:r>
            <a:endParaRPr lang="en-US" sz="1200" dirty="0"/>
          </a:p>
        </p:txBody>
      </p:sp>
      <p:sp>
        <p:nvSpPr>
          <p:cNvPr id="13" name="Text 11"/>
          <p:cNvSpPr/>
          <p:nvPr/>
        </p:nvSpPr>
        <p:spPr>
          <a:xfrm>
            <a:off x="4754880" y="4005072"/>
            <a:ext cx="2011680" cy="274320"/>
          </a:xfrm>
          <a:prstGeom prst="rect">
            <a:avLst/>
          </a:prstGeom>
          <a:noFill/>
          <a:ln/>
        </p:spPr>
        <p:txBody>
          <a:bodyPr wrap="square" rtlCol="0" anchor="ctr"/>
          <a:lstStyle/>
          <a:p>
            <a:pPr marL="0" indent="0">
              <a:buNone/>
            </a:pPr>
            <a:r>
              <a:rPr lang="en-US" sz="900" dirty="0">
                <a:solidFill>
                  <a:srgbClr val="93C5FD"/>
                </a:solidFill>
                <a:latin typeface="Calibri" pitchFamily="34" charset="0"/>
                <a:ea typeface="Calibri" pitchFamily="34" charset="-122"/>
                <a:cs typeface="Calibri" pitchFamily="34" charset="-120"/>
              </a:rPr>
              <a:t>Guided by</a:t>
            </a:r>
            <a:endParaRPr lang="en-US" sz="900" dirty="0"/>
          </a:p>
        </p:txBody>
      </p:sp>
      <p:sp>
        <p:nvSpPr>
          <p:cNvPr id="14" name="Text 12"/>
          <p:cNvSpPr/>
          <p:nvPr/>
        </p:nvSpPr>
        <p:spPr>
          <a:xfrm>
            <a:off x="4754880" y="4279392"/>
            <a:ext cx="2011680" cy="640080"/>
          </a:xfrm>
          <a:prstGeom prst="rect">
            <a:avLst/>
          </a:prstGeom>
          <a:noFill/>
          <a:ln/>
        </p:spPr>
        <p:txBody>
          <a:bodyPr wrap="square" rtlCol="0" anchor="ctr"/>
          <a:lstStyle/>
          <a:p>
            <a:pPr marL="0" indent="0">
              <a:buNone/>
            </a:pPr>
            <a:r>
              <a:rPr lang="en-US" sz="1200" b="1" dirty="0">
                <a:solidFill>
                  <a:srgbClr val="FFFFFF"/>
                </a:solidFill>
                <a:latin typeface="Calibri" pitchFamily="34" charset="0"/>
                <a:cs typeface="Calibri" pitchFamily="34" charset="-120"/>
              </a:rPr>
              <a:t>Dr. Ashima &amp; </a:t>
            </a:r>
            <a:r>
              <a:rPr lang="en-US" sz="1200" b="1" dirty="0" err="1">
                <a:solidFill>
                  <a:srgbClr val="FFFFFF"/>
                </a:solidFill>
                <a:latin typeface="Calibri" pitchFamily="34" charset="0"/>
                <a:cs typeface="Calibri" pitchFamily="34" charset="-120"/>
              </a:rPr>
              <a:t>Mrs.Mandeep</a:t>
            </a:r>
            <a:endParaRPr lang="en-US" sz="1200" dirty="0"/>
          </a:p>
        </p:txBody>
      </p:sp>
      <p:sp>
        <p:nvSpPr>
          <p:cNvPr id="15" name="Text 13"/>
          <p:cNvSpPr/>
          <p:nvPr/>
        </p:nvSpPr>
        <p:spPr>
          <a:xfrm>
            <a:off x="6903720" y="4005072"/>
            <a:ext cx="2011680" cy="274320"/>
          </a:xfrm>
          <a:prstGeom prst="rect">
            <a:avLst/>
          </a:prstGeom>
          <a:noFill/>
          <a:ln/>
        </p:spPr>
        <p:txBody>
          <a:bodyPr wrap="square" rtlCol="0" anchor="ctr"/>
          <a:lstStyle/>
          <a:p>
            <a:pPr marL="0" indent="0">
              <a:buNone/>
            </a:pPr>
            <a:r>
              <a:rPr lang="en-US" sz="900" dirty="0">
                <a:solidFill>
                  <a:srgbClr val="93C5FD"/>
                </a:solidFill>
                <a:latin typeface="Calibri" pitchFamily="34" charset="0"/>
                <a:ea typeface="Calibri" pitchFamily="34" charset="-122"/>
                <a:cs typeface="Calibri" pitchFamily="34" charset="-120"/>
              </a:rPr>
              <a:t>Date</a:t>
            </a:r>
            <a:endParaRPr lang="en-US" sz="900" dirty="0"/>
          </a:p>
        </p:txBody>
      </p:sp>
      <p:sp>
        <p:nvSpPr>
          <p:cNvPr id="16" name="Text 14"/>
          <p:cNvSpPr/>
          <p:nvPr/>
        </p:nvSpPr>
        <p:spPr>
          <a:xfrm>
            <a:off x="6903720" y="4279392"/>
            <a:ext cx="2011680" cy="640080"/>
          </a:xfrm>
          <a:prstGeom prst="rect">
            <a:avLst/>
          </a:prstGeom>
          <a:noFill/>
          <a:ln/>
        </p:spPr>
        <p:txBody>
          <a:bodyPr wrap="square" rtlCol="0" anchor="ctr"/>
          <a:lstStyle/>
          <a:p>
            <a:pPr marL="0" indent="0">
              <a:buNone/>
            </a:pPr>
            <a:r>
              <a:rPr lang="en-US" sz="1200" b="1" dirty="0">
                <a:solidFill>
                  <a:srgbClr val="FFFFFF"/>
                </a:solidFill>
                <a:latin typeface="Calibri" pitchFamily="34" charset="0"/>
                <a:cs typeface="Calibri" pitchFamily="34" charset="-120"/>
              </a:rPr>
              <a:t>06 July 2026</a:t>
            </a:r>
            <a:endParaRPr lang="en-US" sz="1200" dirty="0"/>
          </a:p>
        </p:txBody>
      </p:sp>
      <p:pic>
        <p:nvPicPr>
          <p:cNvPr id="18" name="Picture 17">
            <a:extLst>
              <a:ext uri="{FF2B5EF4-FFF2-40B4-BE49-F238E27FC236}">
                <a16:creationId xmlns:a16="http://schemas.microsoft.com/office/drawing/2014/main" id="{F20838F5-416C-741A-7A5E-B4AFDD40F406}"/>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p:spPr>
        <p:txBody>
          <a:bodyPr/>
          <a:lstStyle/>
          <a:p>
            <a:endParaRPr lang="en-IN"/>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800" b="1" dirty="0">
                <a:solidFill>
                  <a:srgbClr val="1B3A6B"/>
                </a:solidFill>
                <a:latin typeface="Cambria" pitchFamily="34" charset="0"/>
                <a:ea typeface="Cambria" pitchFamily="34" charset="-122"/>
                <a:cs typeface="Cambria" pitchFamily="34" charset="-120"/>
              </a:rPr>
              <a:t>Agenda</a:t>
            </a:r>
            <a:endParaRPr lang="en-US" sz="2800" dirty="0"/>
          </a:p>
        </p:txBody>
      </p:sp>
      <p:sp>
        <p:nvSpPr>
          <p:cNvPr id="4" name="Shape 2"/>
          <p:cNvSpPr/>
          <p:nvPr/>
        </p:nvSpPr>
        <p:spPr>
          <a:xfrm>
            <a:off x="411480" y="1234440"/>
            <a:ext cx="384048" cy="384048"/>
          </a:xfrm>
          <a:prstGeom prst="ellipse">
            <a:avLst/>
          </a:prstGeom>
          <a:solidFill>
            <a:srgbClr val="1B3A6B"/>
          </a:solidFill>
          <a:ln/>
        </p:spPr>
        <p:txBody>
          <a:bodyPr/>
          <a:lstStyle/>
          <a:p>
            <a:endParaRPr lang="en-IN"/>
          </a:p>
        </p:txBody>
      </p:sp>
      <p:sp>
        <p:nvSpPr>
          <p:cNvPr id="5" name="Text 3"/>
          <p:cNvSpPr/>
          <p:nvPr/>
        </p:nvSpPr>
        <p:spPr>
          <a:xfrm>
            <a:off x="411480" y="1243584"/>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914400" y="1234440"/>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Problem Statement &amp; Objective</a:t>
            </a:r>
            <a:endParaRPr lang="en-US" sz="1300" dirty="0"/>
          </a:p>
        </p:txBody>
      </p:sp>
      <p:sp>
        <p:nvSpPr>
          <p:cNvPr id="7" name="Shape 5"/>
          <p:cNvSpPr/>
          <p:nvPr/>
        </p:nvSpPr>
        <p:spPr>
          <a:xfrm>
            <a:off x="411480" y="1947672"/>
            <a:ext cx="384048" cy="384048"/>
          </a:xfrm>
          <a:prstGeom prst="ellipse">
            <a:avLst/>
          </a:prstGeom>
          <a:solidFill>
            <a:srgbClr val="1B3A6B"/>
          </a:solidFill>
          <a:ln/>
        </p:spPr>
        <p:txBody>
          <a:bodyPr/>
          <a:lstStyle/>
          <a:p>
            <a:endParaRPr lang="en-IN"/>
          </a:p>
        </p:txBody>
      </p:sp>
      <p:sp>
        <p:nvSpPr>
          <p:cNvPr id="8" name="Text 6"/>
          <p:cNvSpPr/>
          <p:nvPr/>
        </p:nvSpPr>
        <p:spPr>
          <a:xfrm>
            <a:off x="411480" y="1956816"/>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914400" y="1947672"/>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Dataset Overview</a:t>
            </a:r>
            <a:endParaRPr lang="en-US" sz="1300" dirty="0"/>
          </a:p>
        </p:txBody>
      </p:sp>
      <p:sp>
        <p:nvSpPr>
          <p:cNvPr id="10" name="Shape 8"/>
          <p:cNvSpPr/>
          <p:nvPr/>
        </p:nvSpPr>
        <p:spPr>
          <a:xfrm>
            <a:off x="411480" y="2660904"/>
            <a:ext cx="384048" cy="384048"/>
          </a:xfrm>
          <a:prstGeom prst="ellipse">
            <a:avLst/>
          </a:prstGeom>
          <a:solidFill>
            <a:srgbClr val="1B3A6B"/>
          </a:solidFill>
          <a:ln/>
        </p:spPr>
        <p:txBody>
          <a:bodyPr/>
          <a:lstStyle/>
          <a:p>
            <a:endParaRPr lang="en-IN"/>
          </a:p>
        </p:txBody>
      </p:sp>
      <p:sp>
        <p:nvSpPr>
          <p:cNvPr id="11" name="Text 9"/>
          <p:cNvSpPr/>
          <p:nvPr/>
        </p:nvSpPr>
        <p:spPr>
          <a:xfrm>
            <a:off x="411480" y="2670048"/>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2" name="Text 10"/>
          <p:cNvSpPr/>
          <p:nvPr/>
        </p:nvSpPr>
        <p:spPr>
          <a:xfrm>
            <a:off x="914400" y="2660904"/>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Data Model — Star Schema</a:t>
            </a:r>
            <a:endParaRPr lang="en-US" sz="1300" dirty="0"/>
          </a:p>
        </p:txBody>
      </p:sp>
      <p:sp>
        <p:nvSpPr>
          <p:cNvPr id="13" name="Shape 11"/>
          <p:cNvSpPr/>
          <p:nvPr/>
        </p:nvSpPr>
        <p:spPr>
          <a:xfrm>
            <a:off x="411480" y="3374136"/>
            <a:ext cx="384048" cy="384048"/>
          </a:xfrm>
          <a:prstGeom prst="ellipse">
            <a:avLst/>
          </a:prstGeom>
          <a:solidFill>
            <a:srgbClr val="1B3A6B"/>
          </a:solidFill>
          <a:ln/>
        </p:spPr>
        <p:txBody>
          <a:bodyPr/>
          <a:lstStyle/>
          <a:p>
            <a:endParaRPr lang="en-IN"/>
          </a:p>
        </p:txBody>
      </p:sp>
      <p:sp>
        <p:nvSpPr>
          <p:cNvPr id="14" name="Text 12"/>
          <p:cNvSpPr/>
          <p:nvPr/>
        </p:nvSpPr>
        <p:spPr>
          <a:xfrm>
            <a:off x="411480" y="3383280"/>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5" name="Text 13"/>
          <p:cNvSpPr/>
          <p:nvPr/>
        </p:nvSpPr>
        <p:spPr>
          <a:xfrm>
            <a:off x="914400" y="3374136"/>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Power Query — Cleaning Steps</a:t>
            </a:r>
            <a:endParaRPr lang="en-US" sz="1300" dirty="0"/>
          </a:p>
        </p:txBody>
      </p:sp>
      <p:sp>
        <p:nvSpPr>
          <p:cNvPr id="16" name="Shape 14"/>
          <p:cNvSpPr/>
          <p:nvPr/>
        </p:nvSpPr>
        <p:spPr>
          <a:xfrm>
            <a:off x="411480" y="4087368"/>
            <a:ext cx="384048" cy="384048"/>
          </a:xfrm>
          <a:prstGeom prst="ellipse">
            <a:avLst/>
          </a:prstGeom>
          <a:solidFill>
            <a:srgbClr val="1B3A6B"/>
          </a:solidFill>
          <a:ln/>
        </p:spPr>
        <p:txBody>
          <a:bodyPr/>
          <a:lstStyle/>
          <a:p>
            <a:endParaRPr lang="en-IN"/>
          </a:p>
        </p:txBody>
      </p:sp>
      <p:sp>
        <p:nvSpPr>
          <p:cNvPr id="17" name="Text 15"/>
          <p:cNvSpPr/>
          <p:nvPr/>
        </p:nvSpPr>
        <p:spPr>
          <a:xfrm>
            <a:off x="411480" y="4096512"/>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18" name="Text 16"/>
          <p:cNvSpPr/>
          <p:nvPr/>
        </p:nvSpPr>
        <p:spPr>
          <a:xfrm>
            <a:off x="914400" y="4087368"/>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DAX Measures</a:t>
            </a:r>
            <a:endParaRPr lang="en-US" sz="1300" dirty="0"/>
          </a:p>
        </p:txBody>
      </p:sp>
      <p:sp>
        <p:nvSpPr>
          <p:cNvPr id="19" name="Shape 17"/>
          <p:cNvSpPr/>
          <p:nvPr/>
        </p:nvSpPr>
        <p:spPr>
          <a:xfrm>
            <a:off x="4754880" y="1234440"/>
            <a:ext cx="384048" cy="384048"/>
          </a:xfrm>
          <a:prstGeom prst="ellipse">
            <a:avLst/>
          </a:prstGeom>
          <a:solidFill>
            <a:srgbClr val="1B3A6B"/>
          </a:solidFill>
          <a:ln/>
        </p:spPr>
        <p:txBody>
          <a:bodyPr/>
          <a:lstStyle/>
          <a:p>
            <a:endParaRPr lang="en-IN"/>
          </a:p>
        </p:txBody>
      </p:sp>
      <p:sp>
        <p:nvSpPr>
          <p:cNvPr id="20" name="Text 18"/>
          <p:cNvSpPr/>
          <p:nvPr/>
        </p:nvSpPr>
        <p:spPr>
          <a:xfrm>
            <a:off x="4754880" y="1243584"/>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1" name="Text 19"/>
          <p:cNvSpPr/>
          <p:nvPr/>
        </p:nvSpPr>
        <p:spPr>
          <a:xfrm>
            <a:off x="5257800" y="1234440"/>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Dashboard Walkthrough</a:t>
            </a:r>
            <a:endParaRPr lang="en-US" sz="1300" dirty="0"/>
          </a:p>
        </p:txBody>
      </p:sp>
      <p:sp>
        <p:nvSpPr>
          <p:cNvPr id="22" name="Shape 20"/>
          <p:cNvSpPr/>
          <p:nvPr/>
        </p:nvSpPr>
        <p:spPr>
          <a:xfrm>
            <a:off x="4754880" y="1947672"/>
            <a:ext cx="384048" cy="384048"/>
          </a:xfrm>
          <a:prstGeom prst="ellipse">
            <a:avLst/>
          </a:prstGeom>
          <a:solidFill>
            <a:srgbClr val="1B3A6B"/>
          </a:solidFill>
          <a:ln/>
        </p:spPr>
        <p:txBody>
          <a:bodyPr/>
          <a:lstStyle/>
          <a:p>
            <a:endParaRPr lang="en-IN"/>
          </a:p>
        </p:txBody>
      </p:sp>
      <p:sp>
        <p:nvSpPr>
          <p:cNvPr id="23" name="Text 21"/>
          <p:cNvSpPr/>
          <p:nvPr/>
        </p:nvSpPr>
        <p:spPr>
          <a:xfrm>
            <a:off x="4754880" y="1956816"/>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24" name="Text 22"/>
          <p:cNvSpPr/>
          <p:nvPr/>
        </p:nvSpPr>
        <p:spPr>
          <a:xfrm>
            <a:off x="5257800" y="1947672"/>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Key Insights &amp; Findings</a:t>
            </a:r>
            <a:endParaRPr lang="en-US" sz="1300" dirty="0"/>
          </a:p>
        </p:txBody>
      </p:sp>
      <p:sp>
        <p:nvSpPr>
          <p:cNvPr id="25" name="Shape 23"/>
          <p:cNvSpPr/>
          <p:nvPr/>
        </p:nvSpPr>
        <p:spPr>
          <a:xfrm>
            <a:off x="4754880" y="2660904"/>
            <a:ext cx="384048" cy="384048"/>
          </a:xfrm>
          <a:prstGeom prst="ellipse">
            <a:avLst/>
          </a:prstGeom>
          <a:solidFill>
            <a:srgbClr val="1B3A6B"/>
          </a:solidFill>
          <a:ln/>
        </p:spPr>
        <p:txBody>
          <a:bodyPr/>
          <a:lstStyle/>
          <a:p>
            <a:endParaRPr lang="en-IN"/>
          </a:p>
        </p:txBody>
      </p:sp>
      <p:sp>
        <p:nvSpPr>
          <p:cNvPr id="26" name="Text 24"/>
          <p:cNvSpPr/>
          <p:nvPr/>
        </p:nvSpPr>
        <p:spPr>
          <a:xfrm>
            <a:off x="4754880" y="2670048"/>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27" name="Text 25"/>
          <p:cNvSpPr/>
          <p:nvPr/>
        </p:nvSpPr>
        <p:spPr>
          <a:xfrm>
            <a:off x="5257800" y="2660904"/>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Publishing to Power BI Service</a:t>
            </a:r>
            <a:endParaRPr lang="en-US" sz="1300" dirty="0"/>
          </a:p>
        </p:txBody>
      </p:sp>
      <p:sp>
        <p:nvSpPr>
          <p:cNvPr id="28" name="Shape 26"/>
          <p:cNvSpPr/>
          <p:nvPr/>
        </p:nvSpPr>
        <p:spPr>
          <a:xfrm>
            <a:off x="4754880" y="3374136"/>
            <a:ext cx="384048" cy="384048"/>
          </a:xfrm>
          <a:prstGeom prst="ellipse">
            <a:avLst/>
          </a:prstGeom>
          <a:solidFill>
            <a:srgbClr val="1B3A6B"/>
          </a:solidFill>
          <a:ln/>
        </p:spPr>
        <p:txBody>
          <a:bodyPr/>
          <a:lstStyle/>
          <a:p>
            <a:endParaRPr lang="en-IN"/>
          </a:p>
        </p:txBody>
      </p:sp>
      <p:sp>
        <p:nvSpPr>
          <p:cNvPr id="29" name="Text 27"/>
          <p:cNvSpPr/>
          <p:nvPr/>
        </p:nvSpPr>
        <p:spPr>
          <a:xfrm>
            <a:off x="4754880" y="3383280"/>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30" name="Text 28"/>
          <p:cNvSpPr/>
          <p:nvPr/>
        </p:nvSpPr>
        <p:spPr>
          <a:xfrm>
            <a:off x="5257800" y="3374136"/>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Challenges &amp; Learnings</a:t>
            </a:r>
            <a:endParaRPr lang="en-US" sz="1300" dirty="0"/>
          </a:p>
        </p:txBody>
      </p:sp>
      <p:sp>
        <p:nvSpPr>
          <p:cNvPr id="31" name="Shape 29"/>
          <p:cNvSpPr/>
          <p:nvPr/>
        </p:nvSpPr>
        <p:spPr>
          <a:xfrm>
            <a:off x="4754880" y="4087368"/>
            <a:ext cx="384048" cy="384048"/>
          </a:xfrm>
          <a:prstGeom prst="ellipse">
            <a:avLst/>
          </a:prstGeom>
          <a:solidFill>
            <a:srgbClr val="1B3A6B"/>
          </a:solidFill>
          <a:ln/>
        </p:spPr>
        <p:txBody>
          <a:bodyPr/>
          <a:lstStyle/>
          <a:p>
            <a:endParaRPr lang="en-IN"/>
          </a:p>
        </p:txBody>
      </p:sp>
      <p:sp>
        <p:nvSpPr>
          <p:cNvPr id="32" name="Text 30"/>
          <p:cNvSpPr/>
          <p:nvPr/>
        </p:nvSpPr>
        <p:spPr>
          <a:xfrm>
            <a:off x="4754880" y="4096512"/>
            <a:ext cx="3840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3" name="Text 31"/>
          <p:cNvSpPr/>
          <p:nvPr/>
        </p:nvSpPr>
        <p:spPr>
          <a:xfrm>
            <a:off x="5257800" y="4087368"/>
            <a:ext cx="4023360" cy="38404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Conclusion &amp; Q&amp;A</a:t>
            </a:r>
            <a:endParaRPr lang="en-US" sz="1300" dirty="0"/>
          </a:p>
        </p:txBody>
      </p:sp>
      <p:pic>
        <p:nvPicPr>
          <p:cNvPr id="36" name="Picture 35">
            <a:extLst>
              <a:ext uri="{FF2B5EF4-FFF2-40B4-BE49-F238E27FC236}">
                <a16:creationId xmlns:a16="http://schemas.microsoft.com/office/drawing/2014/main" id="{87DD72AD-16B0-D036-2F37-64AB70B095D7}"/>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p:spPr>
        <p:txBody>
          <a:bodyPr/>
          <a:lstStyle/>
          <a:p>
            <a:endParaRPr lang="en-IN"/>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600" b="1" dirty="0">
                <a:solidFill>
                  <a:srgbClr val="1B3A6B"/>
                </a:solidFill>
                <a:latin typeface="Cambria" pitchFamily="34" charset="0"/>
                <a:ea typeface="Cambria" pitchFamily="34" charset="-122"/>
                <a:cs typeface="Cambria" pitchFamily="34" charset="-120"/>
              </a:rPr>
              <a:t>Problem Statement &amp; Objectives</a:t>
            </a:r>
            <a:endParaRPr lang="en-US" sz="2600" dirty="0"/>
          </a:p>
        </p:txBody>
      </p:sp>
      <p:sp>
        <p:nvSpPr>
          <p:cNvPr id="4" name="Shape 2"/>
          <p:cNvSpPr/>
          <p:nvPr/>
        </p:nvSpPr>
        <p:spPr>
          <a:xfrm>
            <a:off x="365760" y="1143000"/>
            <a:ext cx="3931920" cy="1554480"/>
          </a:xfrm>
          <a:prstGeom prst="roundRect">
            <a:avLst>
              <a:gd name="adj" fmla="val 4706"/>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365760" y="1143000"/>
            <a:ext cx="3931920" cy="54864"/>
          </a:xfrm>
          <a:prstGeom prst="roundRect">
            <a:avLst>
              <a:gd name="adj" fmla="val 133333"/>
            </a:avLst>
          </a:prstGeom>
          <a:solidFill>
            <a:srgbClr val="EA580C"/>
          </a:solidFill>
          <a:ln/>
        </p:spPr>
        <p:txBody>
          <a:bodyPr/>
          <a:lstStyle/>
          <a:p>
            <a:endParaRPr lang="en-IN"/>
          </a:p>
        </p:txBody>
      </p:sp>
      <p:sp>
        <p:nvSpPr>
          <p:cNvPr id="6" name="Text 4"/>
          <p:cNvSpPr/>
          <p:nvPr/>
        </p:nvSpPr>
        <p:spPr>
          <a:xfrm>
            <a:off x="502920" y="1234440"/>
            <a:ext cx="3657600" cy="320040"/>
          </a:xfrm>
          <a:prstGeom prst="rect">
            <a:avLst/>
          </a:prstGeom>
          <a:noFill/>
          <a:ln/>
        </p:spPr>
        <p:txBody>
          <a:bodyPr wrap="square" rtlCol="0" anchor="ctr"/>
          <a:lstStyle/>
          <a:p>
            <a:pPr marL="0" indent="0">
              <a:buNone/>
            </a:pPr>
            <a:r>
              <a:rPr lang="en-US" sz="1200" b="1" dirty="0">
                <a:solidFill>
                  <a:srgbClr val="EA580C"/>
                </a:solidFill>
                <a:latin typeface="Calibri" pitchFamily="34" charset="0"/>
                <a:ea typeface="Calibri" pitchFamily="34" charset="-122"/>
                <a:cs typeface="Calibri" pitchFamily="34" charset="-120"/>
              </a:rPr>
              <a:t>The Problem</a:t>
            </a:r>
            <a:endParaRPr lang="en-US" sz="1200" dirty="0"/>
          </a:p>
        </p:txBody>
      </p:sp>
      <p:sp>
        <p:nvSpPr>
          <p:cNvPr id="7" name="Text 5"/>
          <p:cNvSpPr/>
          <p:nvPr/>
        </p:nvSpPr>
        <p:spPr>
          <a:xfrm>
            <a:off x="502920" y="1554480"/>
            <a:ext cx="3657600" cy="1051560"/>
          </a:xfrm>
          <a:prstGeom prst="rect">
            <a:avLst/>
          </a:prstGeom>
          <a:noFill/>
          <a:ln/>
        </p:spPr>
        <p:txBody>
          <a:bodyPr wrap="square" rtlCol="0" anchor="t"/>
          <a:lstStyle/>
          <a:p>
            <a:pPr marL="0" indent="0">
              <a:buNone/>
            </a:pPr>
            <a:r>
              <a:rPr lang="en-US" sz="1100" dirty="0"/>
              <a:t>The regional sales managers and executive leadership lack a centralized real-time view of business performance. Transaction data is trapped in raw tabular formats, making it highly difficult to identify localized profit losses, evaluate discount impacts, or track product category trends. </a:t>
            </a:r>
          </a:p>
        </p:txBody>
      </p:sp>
      <p:sp>
        <p:nvSpPr>
          <p:cNvPr id="8" name="Shape 6"/>
          <p:cNvSpPr/>
          <p:nvPr/>
        </p:nvSpPr>
        <p:spPr>
          <a:xfrm>
            <a:off x="4572000" y="1143000"/>
            <a:ext cx="3931920" cy="1554480"/>
          </a:xfrm>
          <a:prstGeom prst="roundRect">
            <a:avLst>
              <a:gd name="adj" fmla="val 4706"/>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9" name="Shape 7"/>
          <p:cNvSpPr/>
          <p:nvPr/>
        </p:nvSpPr>
        <p:spPr>
          <a:xfrm>
            <a:off x="4572000" y="1143000"/>
            <a:ext cx="3931920" cy="54864"/>
          </a:xfrm>
          <a:prstGeom prst="roundRect">
            <a:avLst>
              <a:gd name="adj" fmla="val 133333"/>
            </a:avLst>
          </a:prstGeom>
          <a:solidFill>
            <a:srgbClr val="0D9488"/>
          </a:solidFill>
          <a:ln/>
        </p:spPr>
        <p:txBody>
          <a:bodyPr/>
          <a:lstStyle/>
          <a:p>
            <a:endParaRPr lang="en-IN"/>
          </a:p>
        </p:txBody>
      </p:sp>
      <p:sp>
        <p:nvSpPr>
          <p:cNvPr id="10" name="Text 8"/>
          <p:cNvSpPr/>
          <p:nvPr/>
        </p:nvSpPr>
        <p:spPr>
          <a:xfrm>
            <a:off x="4709160" y="1234440"/>
            <a:ext cx="3657600" cy="32004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Target User</a:t>
            </a:r>
            <a:endParaRPr lang="en-US" sz="1200" dirty="0"/>
          </a:p>
        </p:txBody>
      </p:sp>
      <p:sp>
        <p:nvSpPr>
          <p:cNvPr id="11" name="Text 9"/>
          <p:cNvSpPr/>
          <p:nvPr/>
        </p:nvSpPr>
        <p:spPr>
          <a:xfrm>
            <a:off x="4709160" y="1554480"/>
            <a:ext cx="3657600" cy="1051560"/>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Sales Manager, Regional Directors, and Business Analysts who need a real-time, interactive view of regional revenue, product margins, and customer trends without waiting for manually weekly spreadsheet reports.  </a:t>
            </a:r>
            <a:endParaRPr lang="en-US" sz="1100" dirty="0"/>
          </a:p>
        </p:txBody>
      </p:sp>
      <p:sp>
        <p:nvSpPr>
          <p:cNvPr id="12" name="Text 10"/>
          <p:cNvSpPr/>
          <p:nvPr/>
        </p:nvSpPr>
        <p:spPr>
          <a:xfrm>
            <a:off x="365760" y="2834640"/>
            <a:ext cx="8229600" cy="320040"/>
          </a:xfrm>
          <a:prstGeom prst="rect">
            <a:avLst/>
          </a:prstGeom>
          <a:noFill/>
          <a:ln/>
        </p:spPr>
        <p:txBody>
          <a:bodyPr wrap="square"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Project Objectives</a:t>
            </a:r>
            <a:endParaRPr lang="en-US" sz="1400" dirty="0"/>
          </a:p>
        </p:txBody>
      </p:sp>
      <p:sp>
        <p:nvSpPr>
          <p:cNvPr id="13" name="Shape 11"/>
          <p:cNvSpPr/>
          <p:nvPr/>
        </p:nvSpPr>
        <p:spPr>
          <a:xfrm>
            <a:off x="365760" y="3310128"/>
            <a:ext cx="201168" cy="201168"/>
          </a:xfrm>
          <a:prstGeom prst="ellipse">
            <a:avLst/>
          </a:prstGeom>
          <a:solidFill>
            <a:srgbClr val="2563EB"/>
          </a:solidFill>
          <a:ln/>
        </p:spPr>
        <p:txBody>
          <a:bodyPr/>
          <a:lstStyle/>
          <a:p>
            <a:endParaRPr lang="en-IN"/>
          </a:p>
        </p:txBody>
      </p:sp>
      <p:sp>
        <p:nvSpPr>
          <p:cNvPr id="14" name="Text 12"/>
          <p:cNvSpPr/>
          <p:nvPr/>
        </p:nvSpPr>
        <p:spPr>
          <a:xfrm>
            <a:off x="640080" y="3246120"/>
            <a:ext cx="3931920" cy="3200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Connect &amp; clean the raw dataset using Power Query</a:t>
            </a:r>
            <a:endParaRPr lang="en-US" sz="1150" dirty="0"/>
          </a:p>
        </p:txBody>
      </p:sp>
      <p:sp>
        <p:nvSpPr>
          <p:cNvPr id="15" name="Shape 13"/>
          <p:cNvSpPr/>
          <p:nvPr/>
        </p:nvSpPr>
        <p:spPr>
          <a:xfrm>
            <a:off x="365760" y="3657600"/>
            <a:ext cx="201168" cy="201168"/>
          </a:xfrm>
          <a:prstGeom prst="ellipse">
            <a:avLst/>
          </a:prstGeom>
          <a:solidFill>
            <a:srgbClr val="2563EB"/>
          </a:solidFill>
          <a:ln/>
        </p:spPr>
        <p:txBody>
          <a:bodyPr/>
          <a:lstStyle/>
          <a:p>
            <a:endParaRPr lang="en-IN"/>
          </a:p>
        </p:txBody>
      </p:sp>
      <p:sp>
        <p:nvSpPr>
          <p:cNvPr id="16" name="Text 14"/>
          <p:cNvSpPr/>
          <p:nvPr/>
        </p:nvSpPr>
        <p:spPr>
          <a:xfrm>
            <a:off x="640080" y="3593592"/>
            <a:ext cx="3931920" cy="3200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Build a star schema data model with correct relationships</a:t>
            </a:r>
            <a:endParaRPr lang="en-US" sz="1150" dirty="0"/>
          </a:p>
        </p:txBody>
      </p:sp>
      <p:sp>
        <p:nvSpPr>
          <p:cNvPr id="17" name="Shape 15"/>
          <p:cNvSpPr/>
          <p:nvPr/>
        </p:nvSpPr>
        <p:spPr>
          <a:xfrm>
            <a:off x="365760" y="4005072"/>
            <a:ext cx="201168" cy="201168"/>
          </a:xfrm>
          <a:prstGeom prst="ellipse">
            <a:avLst/>
          </a:prstGeom>
          <a:solidFill>
            <a:srgbClr val="2563EB"/>
          </a:solidFill>
          <a:ln/>
        </p:spPr>
        <p:txBody>
          <a:bodyPr/>
          <a:lstStyle/>
          <a:p>
            <a:endParaRPr lang="en-IN"/>
          </a:p>
        </p:txBody>
      </p:sp>
      <p:sp>
        <p:nvSpPr>
          <p:cNvPr id="18" name="Text 16"/>
          <p:cNvSpPr/>
          <p:nvPr/>
        </p:nvSpPr>
        <p:spPr>
          <a:xfrm>
            <a:off x="640080" y="3941064"/>
            <a:ext cx="3931920" cy="3200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Create at least 5 meaningful DAX measures</a:t>
            </a:r>
            <a:endParaRPr lang="en-US" sz="1150" dirty="0"/>
          </a:p>
        </p:txBody>
      </p:sp>
      <p:sp>
        <p:nvSpPr>
          <p:cNvPr id="19" name="Shape 17"/>
          <p:cNvSpPr/>
          <p:nvPr/>
        </p:nvSpPr>
        <p:spPr>
          <a:xfrm>
            <a:off x="4937760" y="3310128"/>
            <a:ext cx="201168" cy="201168"/>
          </a:xfrm>
          <a:prstGeom prst="ellipse">
            <a:avLst/>
          </a:prstGeom>
          <a:solidFill>
            <a:srgbClr val="2563EB"/>
          </a:solidFill>
          <a:ln/>
        </p:spPr>
        <p:txBody>
          <a:bodyPr/>
          <a:lstStyle/>
          <a:p>
            <a:endParaRPr lang="en-IN"/>
          </a:p>
        </p:txBody>
      </p:sp>
      <p:sp>
        <p:nvSpPr>
          <p:cNvPr id="20" name="Text 18"/>
          <p:cNvSpPr/>
          <p:nvPr/>
        </p:nvSpPr>
        <p:spPr>
          <a:xfrm>
            <a:off x="5212080" y="3246120"/>
            <a:ext cx="3931920" cy="3200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Design an interactive multi-page layout with dynamic chart types for quick macro and micro analysis.</a:t>
            </a:r>
            <a:endParaRPr lang="en-US" sz="1150" dirty="0"/>
          </a:p>
        </p:txBody>
      </p:sp>
      <p:sp>
        <p:nvSpPr>
          <p:cNvPr id="21" name="Shape 19"/>
          <p:cNvSpPr/>
          <p:nvPr/>
        </p:nvSpPr>
        <p:spPr>
          <a:xfrm>
            <a:off x="4937760" y="3657600"/>
            <a:ext cx="201168" cy="201168"/>
          </a:xfrm>
          <a:prstGeom prst="ellipse">
            <a:avLst/>
          </a:prstGeom>
          <a:solidFill>
            <a:srgbClr val="2563EB"/>
          </a:solidFill>
          <a:ln/>
        </p:spPr>
        <p:txBody>
          <a:bodyPr/>
          <a:lstStyle/>
          <a:p>
            <a:endParaRPr lang="en-IN"/>
          </a:p>
        </p:txBody>
      </p:sp>
      <p:sp>
        <p:nvSpPr>
          <p:cNvPr id="22" name="Text 20"/>
          <p:cNvSpPr/>
          <p:nvPr/>
        </p:nvSpPr>
        <p:spPr>
          <a:xfrm>
            <a:off x="5212080" y="3593592"/>
            <a:ext cx="3931920" cy="3200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Publish the final report to Power BI Service to enable seamless cross-team collaboration and scheduling.</a:t>
            </a:r>
            <a:endParaRPr lang="en-US" sz="1150" dirty="0"/>
          </a:p>
        </p:txBody>
      </p:sp>
      <p:pic>
        <p:nvPicPr>
          <p:cNvPr id="25" name="Picture 24">
            <a:extLst>
              <a:ext uri="{FF2B5EF4-FFF2-40B4-BE49-F238E27FC236}">
                <a16:creationId xmlns:a16="http://schemas.microsoft.com/office/drawing/2014/main" id="{94A3035C-FD3F-0215-6CC1-3A12524ED4E6}"/>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1920240"/>
            <a:ext cx="164592" cy="1188720"/>
          </a:xfrm>
          <a:prstGeom prst="rect">
            <a:avLst/>
          </a:prstGeom>
          <a:solidFill>
            <a:srgbClr val="2563EB"/>
          </a:solidFill>
          <a:ln/>
        </p:spPr>
        <p:txBody>
          <a:bodyPr/>
          <a:lstStyle/>
          <a:p>
            <a:endParaRPr lang="en-IN"/>
          </a:p>
        </p:txBody>
      </p:sp>
      <p:sp>
        <p:nvSpPr>
          <p:cNvPr id="3" name="Text 1"/>
          <p:cNvSpPr/>
          <p:nvPr/>
        </p:nvSpPr>
        <p:spPr>
          <a:xfrm>
            <a:off x="173933" y="598389"/>
            <a:ext cx="7484165"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         Dataset Overview</a:t>
            </a:r>
            <a:endParaRPr lang="en-US" sz="3600" dirty="0"/>
          </a:p>
        </p:txBody>
      </p:sp>
      <p:sp>
        <p:nvSpPr>
          <p:cNvPr id="4" name="Text 2"/>
          <p:cNvSpPr/>
          <p:nvPr/>
        </p:nvSpPr>
        <p:spPr>
          <a:xfrm>
            <a:off x="457200" y="2061376"/>
            <a:ext cx="8229600" cy="1188720"/>
          </a:xfrm>
          <a:prstGeom prst="rect">
            <a:avLst/>
          </a:prstGeom>
          <a:noFill/>
          <a:ln/>
        </p:spPr>
        <p:txBody>
          <a:bodyPr wrap="square" rtlCol="0" anchor="ctr"/>
          <a:lstStyle/>
          <a:p>
            <a:endParaRPr lang="en-US" sz="1600" dirty="0">
              <a:solidFill>
                <a:schemeClr val="bg1">
                  <a:lumMod val="95000"/>
                </a:schemeClr>
              </a:solidFill>
              <a:latin typeface="Calibri" pitchFamily="34" charset="0"/>
              <a:cs typeface="Calibri" pitchFamily="34" charset="-120"/>
            </a:endParaRPr>
          </a:p>
        </p:txBody>
      </p:sp>
      <p:pic>
        <p:nvPicPr>
          <p:cNvPr id="7" name="Picture 6">
            <a:extLst>
              <a:ext uri="{FF2B5EF4-FFF2-40B4-BE49-F238E27FC236}">
                <a16:creationId xmlns:a16="http://schemas.microsoft.com/office/drawing/2014/main" id="{766384FC-062D-4517-C763-32D1FCCDFAB1}"/>
              </a:ext>
            </a:extLst>
          </p:cNvPr>
          <p:cNvPicPr>
            <a:picLocks noChangeAspect="1"/>
          </p:cNvPicPr>
          <p:nvPr/>
        </p:nvPicPr>
        <p:blipFill>
          <a:blip r:embed="rId3"/>
          <a:stretch>
            <a:fillRect/>
          </a:stretch>
        </p:blipFill>
        <p:spPr>
          <a:xfrm>
            <a:off x="0" y="8721"/>
            <a:ext cx="2151088" cy="451386"/>
          </a:xfrm>
          <a:prstGeom prst="rect">
            <a:avLst/>
          </a:prstGeom>
        </p:spPr>
      </p:pic>
      <p:sp>
        <p:nvSpPr>
          <p:cNvPr id="6" name="Shape 2"/>
          <p:cNvSpPr/>
          <p:nvPr/>
        </p:nvSpPr>
        <p:spPr>
          <a:xfrm>
            <a:off x="1691639" y="1934155"/>
            <a:ext cx="2224377"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8" name="Shape 5"/>
          <p:cNvSpPr/>
          <p:nvPr/>
        </p:nvSpPr>
        <p:spPr>
          <a:xfrm>
            <a:off x="4742957" y="1934155"/>
            <a:ext cx="2234311"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10" name="Shape 8"/>
          <p:cNvSpPr/>
          <p:nvPr/>
        </p:nvSpPr>
        <p:spPr>
          <a:xfrm>
            <a:off x="1691640" y="3476708"/>
            <a:ext cx="2224376"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13" name="Shape 11"/>
          <p:cNvSpPr/>
          <p:nvPr/>
        </p:nvSpPr>
        <p:spPr>
          <a:xfrm>
            <a:off x="4742956" y="3476708"/>
            <a:ext cx="2234311" cy="1097280"/>
          </a:xfrm>
          <a:prstGeom prst="roundRect">
            <a:avLst>
              <a:gd name="adj" fmla="val 8333"/>
            </a:avLst>
          </a:prstGeom>
          <a:solidFill>
            <a:srgbClr val="EFF6FF"/>
          </a:solidFill>
          <a:ln w="12700">
            <a:solidFill>
              <a:srgbClr val="DBEAFE"/>
            </a:solidFill>
            <a:prstDash val="solid"/>
          </a:ln>
          <a:effectLst>
            <a:outerShdw blurRad="101600" dist="38100" dir="2700000" algn="bl" rotWithShape="0">
              <a:srgbClr val="000000">
                <a:alpha val="12000"/>
              </a:srgbClr>
            </a:outerShdw>
          </a:effectLst>
        </p:spPr>
        <p:txBody>
          <a:bodyPr/>
          <a:lstStyle/>
          <a:p>
            <a:endParaRPr lang="en-IN"/>
          </a:p>
        </p:txBody>
      </p:sp>
      <p:sp>
        <p:nvSpPr>
          <p:cNvPr id="11" name="TextBox 10">
            <a:extLst>
              <a:ext uri="{FF2B5EF4-FFF2-40B4-BE49-F238E27FC236}">
                <a16:creationId xmlns:a16="http://schemas.microsoft.com/office/drawing/2014/main" id="{FE78BA15-4E97-96A9-A60E-C99AB40930E1}"/>
              </a:ext>
            </a:extLst>
          </p:cNvPr>
          <p:cNvSpPr txBox="1"/>
          <p:nvPr/>
        </p:nvSpPr>
        <p:spPr>
          <a:xfrm>
            <a:off x="1798983" y="2061376"/>
            <a:ext cx="1967947" cy="646331"/>
          </a:xfrm>
          <a:prstGeom prst="rect">
            <a:avLst/>
          </a:prstGeom>
          <a:noFill/>
        </p:spPr>
        <p:txBody>
          <a:bodyPr wrap="square" rtlCol="0">
            <a:spAutoFit/>
          </a:bodyPr>
          <a:lstStyle/>
          <a:p>
            <a:pPr algn="ctr"/>
            <a:r>
              <a:rPr lang="en-US" sz="3600" b="1" dirty="0">
                <a:solidFill>
                  <a:schemeClr val="accent1"/>
                </a:solidFill>
              </a:rPr>
              <a:t>Kaggle</a:t>
            </a:r>
          </a:p>
        </p:txBody>
      </p:sp>
      <p:sp>
        <p:nvSpPr>
          <p:cNvPr id="12" name="TextBox 11">
            <a:extLst>
              <a:ext uri="{FF2B5EF4-FFF2-40B4-BE49-F238E27FC236}">
                <a16:creationId xmlns:a16="http://schemas.microsoft.com/office/drawing/2014/main" id="{30F60EED-81E1-C4E3-5C35-C0D7FC0F9D72}"/>
              </a:ext>
            </a:extLst>
          </p:cNvPr>
          <p:cNvSpPr txBox="1"/>
          <p:nvPr/>
        </p:nvSpPr>
        <p:spPr>
          <a:xfrm>
            <a:off x="2320786" y="2682007"/>
            <a:ext cx="924339" cy="338554"/>
          </a:xfrm>
          <a:prstGeom prst="rect">
            <a:avLst/>
          </a:prstGeom>
          <a:noFill/>
        </p:spPr>
        <p:txBody>
          <a:bodyPr wrap="square" rtlCol="0">
            <a:spAutoFit/>
          </a:bodyPr>
          <a:lstStyle/>
          <a:p>
            <a:pPr algn="ctr"/>
            <a:r>
              <a:rPr lang="en-US" sz="1600" b="1" dirty="0">
                <a:solidFill>
                  <a:schemeClr val="tx1">
                    <a:lumMod val="75000"/>
                    <a:lumOff val="25000"/>
                  </a:schemeClr>
                </a:solidFill>
              </a:rPr>
              <a:t>Source</a:t>
            </a:r>
          </a:p>
        </p:txBody>
      </p:sp>
      <p:sp>
        <p:nvSpPr>
          <p:cNvPr id="14" name="TextBox 13">
            <a:extLst>
              <a:ext uri="{FF2B5EF4-FFF2-40B4-BE49-F238E27FC236}">
                <a16:creationId xmlns:a16="http://schemas.microsoft.com/office/drawing/2014/main" id="{1CA66205-4DDF-A7E1-07B8-693585C9F63C}"/>
              </a:ext>
            </a:extLst>
          </p:cNvPr>
          <p:cNvSpPr txBox="1"/>
          <p:nvPr/>
        </p:nvSpPr>
        <p:spPr>
          <a:xfrm>
            <a:off x="4880113" y="2061376"/>
            <a:ext cx="1918252" cy="646331"/>
          </a:xfrm>
          <a:prstGeom prst="rect">
            <a:avLst/>
          </a:prstGeom>
          <a:noFill/>
        </p:spPr>
        <p:txBody>
          <a:bodyPr wrap="square" rtlCol="0">
            <a:spAutoFit/>
          </a:bodyPr>
          <a:lstStyle/>
          <a:p>
            <a:pPr algn="ctr"/>
            <a:r>
              <a:rPr lang="en-US" sz="3600" b="1" dirty="0">
                <a:solidFill>
                  <a:schemeClr val="accent1"/>
                </a:solidFill>
              </a:rPr>
              <a:t>CSV</a:t>
            </a:r>
          </a:p>
        </p:txBody>
      </p:sp>
      <p:sp>
        <p:nvSpPr>
          <p:cNvPr id="15" name="TextBox 14">
            <a:extLst>
              <a:ext uri="{FF2B5EF4-FFF2-40B4-BE49-F238E27FC236}">
                <a16:creationId xmlns:a16="http://schemas.microsoft.com/office/drawing/2014/main" id="{74B253AE-4B9F-3864-EDF5-C710348D680C}"/>
              </a:ext>
            </a:extLst>
          </p:cNvPr>
          <p:cNvSpPr txBox="1"/>
          <p:nvPr/>
        </p:nvSpPr>
        <p:spPr>
          <a:xfrm>
            <a:off x="5078896" y="2682007"/>
            <a:ext cx="1540565" cy="338554"/>
          </a:xfrm>
          <a:prstGeom prst="rect">
            <a:avLst/>
          </a:prstGeom>
          <a:noFill/>
        </p:spPr>
        <p:txBody>
          <a:bodyPr wrap="square" rtlCol="0">
            <a:spAutoFit/>
          </a:bodyPr>
          <a:lstStyle/>
          <a:p>
            <a:pPr algn="ctr"/>
            <a:r>
              <a:rPr lang="en-US" sz="1600" b="1" dirty="0">
                <a:solidFill>
                  <a:schemeClr val="tx1">
                    <a:lumMod val="75000"/>
                    <a:lumOff val="25000"/>
                  </a:schemeClr>
                </a:solidFill>
              </a:rPr>
              <a:t>File Type</a:t>
            </a:r>
          </a:p>
        </p:txBody>
      </p:sp>
      <p:sp>
        <p:nvSpPr>
          <p:cNvPr id="16" name="TextBox 15">
            <a:extLst>
              <a:ext uri="{FF2B5EF4-FFF2-40B4-BE49-F238E27FC236}">
                <a16:creationId xmlns:a16="http://schemas.microsoft.com/office/drawing/2014/main" id="{B72AF049-0BA3-9E2D-1BB4-7E47FE4A2079}"/>
              </a:ext>
            </a:extLst>
          </p:cNvPr>
          <p:cNvSpPr txBox="1"/>
          <p:nvPr/>
        </p:nvSpPr>
        <p:spPr>
          <a:xfrm>
            <a:off x="1798983" y="3622249"/>
            <a:ext cx="1967947" cy="646331"/>
          </a:xfrm>
          <a:prstGeom prst="rect">
            <a:avLst/>
          </a:prstGeom>
          <a:noFill/>
        </p:spPr>
        <p:txBody>
          <a:bodyPr wrap="square" rtlCol="0">
            <a:spAutoFit/>
          </a:bodyPr>
          <a:lstStyle/>
          <a:p>
            <a:pPr algn="ctr"/>
            <a:r>
              <a:rPr lang="en-US" sz="3600" b="1" dirty="0">
                <a:solidFill>
                  <a:schemeClr val="accent1"/>
                </a:solidFill>
              </a:rPr>
              <a:t>10,194</a:t>
            </a:r>
          </a:p>
        </p:txBody>
      </p:sp>
      <p:sp>
        <p:nvSpPr>
          <p:cNvPr id="17" name="TextBox 16">
            <a:extLst>
              <a:ext uri="{FF2B5EF4-FFF2-40B4-BE49-F238E27FC236}">
                <a16:creationId xmlns:a16="http://schemas.microsoft.com/office/drawing/2014/main" id="{55D82715-6BC0-67A1-6D16-CBFDD298483D}"/>
              </a:ext>
            </a:extLst>
          </p:cNvPr>
          <p:cNvSpPr txBox="1"/>
          <p:nvPr/>
        </p:nvSpPr>
        <p:spPr>
          <a:xfrm>
            <a:off x="2042490" y="4213615"/>
            <a:ext cx="1480930" cy="338554"/>
          </a:xfrm>
          <a:prstGeom prst="rect">
            <a:avLst/>
          </a:prstGeom>
          <a:noFill/>
        </p:spPr>
        <p:txBody>
          <a:bodyPr wrap="square" rtlCol="0">
            <a:spAutoFit/>
          </a:bodyPr>
          <a:lstStyle/>
          <a:p>
            <a:pPr algn="ctr"/>
            <a:r>
              <a:rPr lang="en-US" sz="1600" b="1" dirty="0">
                <a:solidFill>
                  <a:schemeClr val="tx1">
                    <a:lumMod val="75000"/>
                    <a:lumOff val="25000"/>
                  </a:schemeClr>
                </a:solidFill>
              </a:rPr>
              <a:t>Rows</a:t>
            </a:r>
          </a:p>
        </p:txBody>
      </p:sp>
      <p:sp>
        <p:nvSpPr>
          <p:cNvPr id="18" name="TextBox 17">
            <a:extLst>
              <a:ext uri="{FF2B5EF4-FFF2-40B4-BE49-F238E27FC236}">
                <a16:creationId xmlns:a16="http://schemas.microsoft.com/office/drawing/2014/main" id="{BCCE0020-5802-415B-F7CA-A2A773055383}"/>
              </a:ext>
            </a:extLst>
          </p:cNvPr>
          <p:cNvSpPr txBox="1"/>
          <p:nvPr/>
        </p:nvSpPr>
        <p:spPr>
          <a:xfrm>
            <a:off x="4949687" y="3622249"/>
            <a:ext cx="1769165" cy="646331"/>
          </a:xfrm>
          <a:prstGeom prst="rect">
            <a:avLst/>
          </a:prstGeom>
          <a:noFill/>
        </p:spPr>
        <p:txBody>
          <a:bodyPr wrap="square" rtlCol="0">
            <a:spAutoFit/>
          </a:bodyPr>
          <a:lstStyle/>
          <a:p>
            <a:pPr algn="ctr"/>
            <a:r>
              <a:rPr lang="en-US" sz="3600" b="1">
                <a:solidFill>
                  <a:schemeClr val="accent1"/>
                </a:solidFill>
              </a:rPr>
              <a:t>23</a:t>
            </a:r>
            <a:endParaRPr lang="en-US" sz="3600" b="1" dirty="0">
              <a:solidFill>
                <a:schemeClr val="accent1"/>
              </a:solidFill>
            </a:endParaRPr>
          </a:p>
        </p:txBody>
      </p:sp>
      <p:sp>
        <p:nvSpPr>
          <p:cNvPr id="19" name="TextBox 18">
            <a:extLst>
              <a:ext uri="{FF2B5EF4-FFF2-40B4-BE49-F238E27FC236}">
                <a16:creationId xmlns:a16="http://schemas.microsoft.com/office/drawing/2014/main" id="{6C7998A4-3385-CC8C-D6AB-2222F8B1DC6F}"/>
              </a:ext>
            </a:extLst>
          </p:cNvPr>
          <p:cNvSpPr txBox="1"/>
          <p:nvPr/>
        </p:nvSpPr>
        <p:spPr>
          <a:xfrm>
            <a:off x="5178287" y="4213615"/>
            <a:ext cx="1441174" cy="338554"/>
          </a:xfrm>
          <a:prstGeom prst="rect">
            <a:avLst/>
          </a:prstGeom>
          <a:noFill/>
        </p:spPr>
        <p:txBody>
          <a:bodyPr wrap="square" rtlCol="0">
            <a:spAutoFit/>
          </a:bodyPr>
          <a:lstStyle/>
          <a:p>
            <a:pPr algn="ctr"/>
            <a:r>
              <a:rPr lang="en-US" sz="1600" b="1" dirty="0">
                <a:solidFill>
                  <a:schemeClr val="tx1">
                    <a:lumMod val="75000"/>
                    <a:lumOff val="25000"/>
                  </a:schemeClr>
                </a:solidFill>
              </a:rPr>
              <a:t>Columns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p:spPr>
        <p:txBody>
          <a:bodyPr/>
          <a:lstStyle/>
          <a:p>
            <a:endParaRPr lang="en-IN"/>
          </a:p>
        </p:txBody>
      </p:sp>
      <p:sp>
        <p:nvSpPr>
          <p:cNvPr id="3" name="Text 1"/>
          <p:cNvSpPr/>
          <p:nvPr/>
        </p:nvSpPr>
        <p:spPr>
          <a:xfrm>
            <a:off x="457200" y="656703"/>
            <a:ext cx="8229600" cy="457200"/>
          </a:xfrm>
          <a:prstGeom prst="rect">
            <a:avLst/>
          </a:prstGeom>
          <a:noFill/>
          <a:ln/>
        </p:spPr>
        <p:txBody>
          <a:bodyPr wrap="square" rtlCol="0" anchor="ctr"/>
          <a:lstStyle/>
          <a:p>
            <a:pPr marL="0" indent="0">
              <a:buNone/>
            </a:pPr>
            <a:r>
              <a:rPr lang="en-US" sz="2600" b="1" dirty="0">
                <a:solidFill>
                  <a:srgbClr val="1B3A6B"/>
                </a:solidFill>
                <a:latin typeface="Cambria" pitchFamily="34" charset="0"/>
                <a:ea typeface="Cambria" pitchFamily="34" charset="-122"/>
                <a:cs typeface="Cambria" pitchFamily="34" charset="-120"/>
              </a:rPr>
              <a:t>Dataset Overview</a:t>
            </a:r>
            <a:endParaRPr lang="en-US" sz="2600" dirty="0"/>
          </a:p>
        </p:txBody>
      </p:sp>
      <p:sp>
        <p:nvSpPr>
          <p:cNvPr id="16" name="Text 14"/>
          <p:cNvSpPr/>
          <p:nvPr/>
        </p:nvSpPr>
        <p:spPr>
          <a:xfrm>
            <a:off x="365760" y="1470357"/>
            <a:ext cx="4572000" cy="32004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Key Columns Used</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458157243"/>
              </p:ext>
            </p:extLst>
          </p:nvPr>
        </p:nvGraphicFramePr>
        <p:xfrm>
          <a:off x="365760" y="1937004"/>
          <a:ext cx="5029200" cy="1981200"/>
        </p:xfrm>
        <a:graphic>
          <a:graphicData uri="http://schemas.openxmlformats.org/drawingml/2006/table">
            <a:tbl>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6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 in Dashboard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Order ID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Unique key per transaction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Order Date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Date dimension — time intelligence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Product grouping for slicers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Sales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Revenue — base for SUM measures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Profit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Net profit — margin calculations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dirty="0">
                          <a:latin typeface="Calibri" charset="0"/>
                          <a:ea typeface="Calibri" charset="0"/>
                          <a:cs typeface="Calibri" charset="0"/>
                        </a:rPr>
                        <a:t>Region </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latin typeface="Calibri" charset="0"/>
                          <a:ea typeface="Calibri" charset="0"/>
                          <a:cs typeface="Calibri" charset="0"/>
                        </a:rPr>
                        <a:t>Geographic distribution – base for mapping performance</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6"/>
                  </a:ext>
                </a:extLst>
              </a:tr>
            </a:tbl>
          </a:graphicData>
        </a:graphic>
      </p:graphicFrame>
      <p:sp>
        <p:nvSpPr>
          <p:cNvPr id="18" name="Text 15"/>
          <p:cNvSpPr/>
          <p:nvPr/>
        </p:nvSpPr>
        <p:spPr>
          <a:xfrm>
            <a:off x="5577840" y="1504188"/>
            <a:ext cx="3200400" cy="32004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Data Quality Steps (Power Query)</a:t>
            </a:r>
            <a:endParaRPr lang="en-US" sz="1300" dirty="0"/>
          </a:p>
        </p:txBody>
      </p:sp>
      <p:sp>
        <p:nvSpPr>
          <p:cNvPr id="19" name="Shape 16"/>
          <p:cNvSpPr/>
          <p:nvPr/>
        </p:nvSpPr>
        <p:spPr>
          <a:xfrm>
            <a:off x="5669280" y="1957437"/>
            <a:ext cx="164592" cy="201168"/>
          </a:xfrm>
          <a:prstGeom prst="rect">
            <a:avLst/>
          </a:prstGeom>
          <a:solidFill>
            <a:srgbClr val="0D9488"/>
          </a:solidFill>
          <a:ln/>
        </p:spPr>
        <p:txBody>
          <a:bodyPr/>
          <a:lstStyle/>
          <a:p>
            <a:endParaRPr lang="en-IN"/>
          </a:p>
        </p:txBody>
      </p:sp>
      <p:sp>
        <p:nvSpPr>
          <p:cNvPr id="20" name="Text 17"/>
          <p:cNvSpPr/>
          <p:nvPr/>
        </p:nvSpPr>
        <p:spPr>
          <a:xfrm>
            <a:off x="5925312" y="1898001"/>
            <a:ext cx="301752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Removed duplicate rows</a:t>
            </a:r>
            <a:endParaRPr lang="en-US" sz="1050" dirty="0"/>
          </a:p>
        </p:txBody>
      </p:sp>
      <p:sp>
        <p:nvSpPr>
          <p:cNvPr id="21" name="Shape 18"/>
          <p:cNvSpPr/>
          <p:nvPr/>
        </p:nvSpPr>
        <p:spPr>
          <a:xfrm>
            <a:off x="5669280" y="2262829"/>
            <a:ext cx="164592" cy="201168"/>
          </a:xfrm>
          <a:prstGeom prst="rect">
            <a:avLst/>
          </a:prstGeom>
          <a:solidFill>
            <a:srgbClr val="0D9488"/>
          </a:solidFill>
          <a:ln/>
        </p:spPr>
        <p:txBody>
          <a:bodyPr/>
          <a:lstStyle/>
          <a:p>
            <a:endParaRPr lang="en-IN"/>
          </a:p>
        </p:txBody>
      </p:sp>
      <p:sp>
        <p:nvSpPr>
          <p:cNvPr id="22" name="Text 19"/>
          <p:cNvSpPr/>
          <p:nvPr/>
        </p:nvSpPr>
        <p:spPr>
          <a:xfrm>
            <a:off x="5925312" y="2174607"/>
            <a:ext cx="301752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Fixed null values in column</a:t>
            </a:r>
            <a:endParaRPr lang="en-US" sz="1050" dirty="0"/>
          </a:p>
        </p:txBody>
      </p:sp>
      <p:sp>
        <p:nvSpPr>
          <p:cNvPr id="23" name="Shape 20"/>
          <p:cNvSpPr/>
          <p:nvPr/>
        </p:nvSpPr>
        <p:spPr>
          <a:xfrm>
            <a:off x="5666099" y="2549063"/>
            <a:ext cx="164592" cy="201168"/>
          </a:xfrm>
          <a:prstGeom prst="rect">
            <a:avLst/>
          </a:prstGeom>
          <a:solidFill>
            <a:srgbClr val="0D9488"/>
          </a:solidFill>
          <a:ln/>
        </p:spPr>
        <p:txBody>
          <a:bodyPr/>
          <a:lstStyle/>
          <a:p>
            <a:endParaRPr lang="en-IN" dirty="0"/>
          </a:p>
        </p:txBody>
      </p:sp>
      <p:sp>
        <p:nvSpPr>
          <p:cNvPr id="24" name="Text 21"/>
          <p:cNvSpPr/>
          <p:nvPr/>
        </p:nvSpPr>
        <p:spPr>
          <a:xfrm>
            <a:off x="5905831" y="2484633"/>
            <a:ext cx="301752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Changed data types (Date, Number)</a:t>
            </a:r>
            <a:endParaRPr lang="en-US" sz="1050" dirty="0"/>
          </a:p>
        </p:txBody>
      </p:sp>
      <p:sp>
        <p:nvSpPr>
          <p:cNvPr id="25" name="Shape 22"/>
          <p:cNvSpPr/>
          <p:nvPr/>
        </p:nvSpPr>
        <p:spPr>
          <a:xfrm>
            <a:off x="5669280" y="2849896"/>
            <a:ext cx="164592" cy="201168"/>
          </a:xfrm>
          <a:prstGeom prst="rect">
            <a:avLst/>
          </a:prstGeom>
          <a:solidFill>
            <a:srgbClr val="0D9488"/>
          </a:solidFill>
          <a:ln/>
        </p:spPr>
        <p:txBody>
          <a:bodyPr/>
          <a:lstStyle/>
          <a:p>
            <a:endParaRPr lang="en-IN"/>
          </a:p>
        </p:txBody>
      </p:sp>
      <p:sp>
        <p:nvSpPr>
          <p:cNvPr id="26" name="Text 23"/>
          <p:cNvSpPr/>
          <p:nvPr/>
        </p:nvSpPr>
        <p:spPr>
          <a:xfrm>
            <a:off x="5905831" y="2782323"/>
            <a:ext cx="301752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Renamed columns for clarity</a:t>
            </a:r>
            <a:endParaRPr lang="en-US" sz="1050" dirty="0"/>
          </a:p>
        </p:txBody>
      </p:sp>
      <p:sp>
        <p:nvSpPr>
          <p:cNvPr id="27" name="Shape 24"/>
          <p:cNvSpPr/>
          <p:nvPr/>
        </p:nvSpPr>
        <p:spPr>
          <a:xfrm>
            <a:off x="5669280" y="3150729"/>
            <a:ext cx="164592" cy="201168"/>
          </a:xfrm>
          <a:prstGeom prst="rect">
            <a:avLst/>
          </a:prstGeom>
          <a:solidFill>
            <a:srgbClr val="0D9488"/>
          </a:solidFill>
          <a:ln/>
        </p:spPr>
        <p:txBody>
          <a:bodyPr/>
          <a:lstStyle/>
          <a:p>
            <a:endParaRPr lang="en-IN"/>
          </a:p>
        </p:txBody>
      </p:sp>
      <p:sp>
        <p:nvSpPr>
          <p:cNvPr id="28" name="Text 25"/>
          <p:cNvSpPr/>
          <p:nvPr/>
        </p:nvSpPr>
        <p:spPr>
          <a:xfrm>
            <a:off x="5905831" y="3050977"/>
            <a:ext cx="301752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Filtered out [cancelled/test] rows</a:t>
            </a:r>
            <a:endParaRPr lang="en-US" sz="1050" dirty="0"/>
          </a:p>
        </p:txBody>
      </p:sp>
      <p:sp>
        <p:nvSpPr>
          <p:cNvPr id="29" name="Shape 26"/>
          <p:cNvSpPr/>
          <p:nvPr/>
        </p:nvSpPr>
        <p:spPr>
          <a:xfrm>
            <a:off x="5669280" y="3449475"/>
            <a:ext cx="164592" cy="201168"/>
          </a:xfrm>
          <a:prstGeom prst="rect">
            <a:avLst/>
          </a:prstGeom>
          <a:solidFill>
            <a:srgbClr val="0D9488"/>
          </a:solidFill>
          <a:ln/>
        </p:spPr>
        <p:txBody>
          <a:bodyPr/>
          <a:lstStyle/>
          <a:p>
            <a:endParaRPr lang="en-IN"/>
          </a:p>
        </p:txBody>
      </p:sp>
      <p:sp>
        <p:nvSpPr>
          <p:cNvPr id="30" name="Text 27"/>
          <p:cNvSpPr/>
          <p:nvPr/>
        </p:nvSpPr>
        <p:spPr>
          <a:xfrm>
            <a:off x="5905831" y="3377019"/>
            <a:ext cx="301752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Verified correct data formatting for sales and profit values</a:t>
            </a:r>
            <a:endParaRPr lang="en-US" sz="1050" dirty="0"/>
          </a:p>
        </p:txBody>
      </p:sp>
      <p:pic>
        <p:nvPicPr>
          <p:cNvPr id="33" name="Picture 32">
            <a:extLst>
              <a:ext uri="{FF2B5EF4-FFF2-40B4-BE49-F238E27FC236}">
                <a16:creationId xmlns:a16="http://schemas.microsoft.com/office/drawing/2014/main" id="{00A0E154-453B-D476-1883-C4CB68FF1143}"/>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1920240"/>
            <a:ext cx="164592" cy="1188720"/>
          </a:xfrm>
          <a:prstGeom prst="rect">
            <a:avLst/>
          </a:prstGeom>
          <a:solidFill>
            <a:srgbClr val="2563EB"/>
          </a:solidFill>
          <a:ln/>
        </p:spPr>
        <p:txBody>
          <a:bodyPr/>
          <a:lstStyle/>
          <a:p>
            <a:endParaRPr lang="en-IN"/>
          </a:p>
        </p:txBody>
      </p:sp>
      <p:sp>
        <p:nvSpPr>
          <p:cNvPr id="3" name="Text 1"/>
          <p:cNvSpPr/>
          <p:nvPr/>
        </p:nvSpPr>
        <p:spPr>
          <a:xfrm>
            <a:off x="387626" y="640080"/>
            <a:ext cx="822960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DAX Measures</a:t>
            </a:r>
            <a:endParaRPr lang="en-US" sz="3600" dirty="0"/>
          </a:p>
        </p:txBody>
      </p:sp>
      <p:sp>
        <p:nvSpPr>
          <p:cNvPr id="4" name="Text 2"/>
          <p:cNvSpPr/>
          <p:nvPr/>
        </p:nvSpPr>
        <p:spPr>
          <a:xfrm>
            <a:off x="457200" y="1691639"/>
            <a:ext cx="8229600" cy="1697603"/>
          </a:xfrm>
          <a:prstGeom prst="rect">
            <a:avLst/>
          </a:prstGeom>
          <a:noFill/>
          <a:ln/>
        </p:spPr>
        <p:txBody>
          <a:bodyPr wrap="square" rtlCol="0" anchor="ctr"/>
          <a:lstStyle/>
          <a:p>
            <a:pPr marL="342900" indent="-342900">
              <a:buFont typeface="+mj-lt"/>
              <a:buAutoNum type="arabicPeriod"/>
            </a:pPr>
            <a:r>
              <a:rPr lang="en-US" sz="1600" dirty="0">
                <a:solidFill>
                  <a:schemeClr val="bg1">
                    <a:lumMod val="85000"/>
                  </a:schemeClr>
                </a:solidFill>
                <a:latin typeface="Calibri" pitchFamily="34" charset="0"/>
                <a:cs typeface="Calibri" pitchFamily="34" charset="-120"/>
              </a:rPr>
              <a:t>Total Sales : Calculates the absolute gross revenue generated across all transactions.</a:t>
            </a:r>
          </a:p>
          <a:p>
            <a:pPr marL="342900" indent="-342900">
              <a:buFont typeface="+mj-lt"/>
              <a:buAutoNum type="arabicPeriod"/>
            </a:pPr>
            <a:r>
              <a:rPr lang="en-US" sz="1600" dirty="0">
                <a:solidFill>
                  <a:schemeClr val="bg1">
                    <a:lumMod val="85000"/>
                  </a:schemeClr>
                </a:solidFill>
                <a:latin typeface="Calibri" pitchFamily="34" charset="0"/>
                <a:cs typeface="Calibri" pitchFamily="34" charset="-120"/>
              </a:rPr>
              <a:t>Total Profit : Calculates the cumulative net profit across all orders.</a:t>
            </a:r>
          </a:p>
          <a:p>
            <a:pPr marL="342900" indent="-342900">
              <a:buFont typeface="+mj-lt"/>
              <a:buAutoNum type="arabicPeriod"/>
            </a:pPr>
            <a:r>
              <a:rPr lang="en-US" sz="1600" dirty="0">
                <a:solidFill>
                  <a:schemeClr val="bg1">
                    <a:lumMod val="85000"/>
                  </a:schemeClr>
                </a:solidFill>
                <a:latin typeface="Calibri" pitchFamily="34" charset="0"/>
                <a:cs typeface="Calibri" pitchFamily="34" charset="-120"/>
              </a:rPr>
              <a:t>Total Quantity Sold : Tracks the total volume of inventory units moved.</a:t>
            </a:r>
          </a:p>
          <a:p>
            <a:pPr marL="342900" indent="-342900">
              <a:buFont typeface="+mj-lt"/>
              <a:buAutoNum type="arabicPeriod"/>
            </a:pPr>
            <a:r>
              <a:rPr lang="en-US" sz="1600" dirty="0">
                <a:solidFill>
                  <a:schemeClr val="bg1">
                    <a:lumMod val="85000"/>
                  </a:schemeClr>
                </a:solidFill>
                <a:latin typeface="Calibri" pitchFamily="34" charset="0"/>
                <a:cs typeface="Calibri" pitchFamily="34" charset="-120"/>
              </a:rPr>
              <a:t>Total Discount : Calculates the total monetary value given away as customer discounts.</a:t>
            </a:r>
            <a:r>
              <a:rPr lang="en-US" sz="1600" dirty="0">
                <a:solidFill>
                  <a:srgbClr val="93C5FD"/>
                </a:solidFill>
                <a:latin typeface="Calibri" pitchFamily="34" charset="0"/>
                <a:cs typeface="Calibri" pitchFamily="34" charset="-120"/>
              </a:rPr>
              <a:t> </a:t>
            </a:r>
            <a:endParaRPr lang="en-US" sz="1600" dirty="0"/>
          </a:p>
        </p:txBody>
      </p:sp>
      <p:pic>
        <p:nvPicPr>
          <p:cNvPr id="7" name="Picture 6">
            <a:extLst>
              <a:ext uri="{FF2B5EF4-FFF2-40B4-BE49-F238E27FC236}">
                <a16:creationId xmlns:a16="http://schemas.microsoft.com/office/drawing/2014/main" id="{5A3A5A36-9CF8-558A-2EA8-AF644088FD88}"/>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p:spPr>
        <p:txBody>
          <a:bodyPr/>
          <a:lstStyle/>
          <a:p>
            <a:endParaRPr lang="en-IN"/>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400" b="1" dirty="0">
                <a:solidFill>
                  <a:srgbClr val="1B3A6B"/>
                </a:solidFill>
                <a:latin typeface="Cambria" pitchFamily="34" charset="0"/>
                <a:ea typeface="Cambria" pitchFamily="34" charset="-122"/>
                <a:cs typeface="Cambria" pitchFamily="34" charset="-120"/>
              </a:rPr>
              <a:t>Dashboard — Overview</a:t>
            </a:r>
            <a:endParaRPr lang="en-US" sz="2400" dirty="0"/>
          </a:p>
        </p:txBody>
      </p:sp>
      <p:sp>
        <p:nvSpPr>
          <p:cNvPr id="4" name="Shape 2"/>
          <p:cNvSpPr/>
          <p:nvPr/>
        </p:nvSpPr>
        <p:spPr>
          <a:xfrm>
            <a:off x="365760" y="1097280"/>
            <a:ext cx="5303520" cy="3291840"/>
          </a:xfrm>
          <a:prstGeom prst="roundRect">
            <a:avLst>
              <a:gd name="adj" fmla="val 2222"/>
            </a:avLst>
          </a:prstGeom>
          <a:solidFill>
            <a:srgbClr val="EFF6FF"/>
          </a:solidFill>
          <a:ln w="19050">
            <a:solidFill>
              <a:srgbClr val="DBEAFE"/>
            </a:solidFill>
            <a:prstDash val="dash"/>
          </a:ln>
        </p:spPr>
        <p:txBody>
          <a:bodyPr/>
          <a:lstStyle/>
          <a:p>
            <a:endParaRPr lang="en-IN"/>
          </a:p>
        </p:txBody>
      </p:sp>
      <p:sp>
        <p:nvSpPr>
          <p:cNvPr id="5" name="Text 3"/>
          <p:cNvSpPr/>
          <p:nvPr/>
        </p:nvSpPr>
        <p:spPr>
          <a:xfrm>
            <a:off x="365760" y="2560320"/>
            <a:ext cx="5303520" cy="365760"/>
          </a:xfrm>
          <a:prstGeom prst="rect">
            <a:avLst/>
          </a:prstGeom>
          <a:noFill/>
          <a:ln/>
        </p:spPr>
        <p:txBody>
          <a:bodyPr wrap="square" rtlCol="0" anchor="ctr"/>
          <a:lstStyle/>
          <a:p>
            <a:pPr marL="0" indent="0" algn="ctr">
              <a:buNone/>
            </a:pPr>
            <a:r>
              <a:rPr lang="en-US" sz="1100" i="1" dirty="0">
                <a:solidFill>
                  <a:srgbClr val="2563EB"/>
                </a:solidFill>
                <a:latin typeface="Calibri" pitchFamily="34" charset="0"/>
                <a:ea typeface="Calibri" pitchFamily="34" charset="-122"/>
                <a:cs typeface="Calibri" pitchFamily="34" charset="-120"/>
              </a:rPr>
              <a:t>[ Screenshot — Overview Page ]</a:t>
            </a:r>
            <a:endParaRPr lang="en-US" sz="1100" dirty="0"/>
          </a:p>
        </p:txBody>
      </p:sp>
      <p:sp>
        <p:nvSpPr>
          <p:cNvPr id="6" name="Text 4"/>
          <p:cNvSpPr/>
          <p:nvPr/>
        </p:nvSpPr>
        <p:spPr>
          <a:xfrm>
            <a:off x="5852160" y="1097280"/>
            <a:ext cx="3108960" cy="32004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Visuals on this page</a:t>
            </a:r>
            <a:endParaRPr lang="en-US" sz="1300" dirty="0"/>
          </a:p>
        </p:txBody>
      </p:sp>
      <p:sp>
        <p:nvSpPr>
          <p:cNvPr id="7" name="Shape 5"/>
          <p:cNvSpPr/>
          <p:nvPr/>
        </p:nvSpPr>
        <p:spPr>
          <a:xfrm>
            <a:off x="5852160" y="1508760"/>
            <a:ext cx="182880" cy="182880"/>
          </a:xfrm>
          <a:prstGeom prst="ellipse">
            <a:avLst/>
          </a:prstGeom>
          <a:solidFill>
            <a:srgbClr val="2563EB"/>
          </a:solidFill>
          <a:ln/>
        </p:spPr>
        <p:txBody>
          <a:bodyPr/>
          <a:lstStyle/>
          <a:p>
            <a:endParaRPr lang="en-IN"/>
          </a:p>
        </p:txBody>
      </p:sp>
      <p:sp>
        <p:nvSpPr>
          <p:cNvPr id="8" name="Text 6"/>
          <p:cNvSpPr/>
          <p:nvPr/>
        </p:nvSpPr>
        <p:spPr>
          <a:xfrm>
            <a:off x="6126480" y="1412748"/>
            <a:ext cx="28346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KPI Cards — Sales, Profit, Discount, Quantity</a:t>
            </a:r>
            <a:endParaRPr lang="en-US" sz="1100" dirty="0"/>
          </a:p>
        </p:txBody>
      </p:sp>
      <p:sp>
        <p:nvSpPr>
          <p:cNvPr id="9" name="Shape 7"/>
          <p:cNvSpPr/>
          <p:nvPr/>
        </p:nvSpPr>
        <p:spPr>
          <a:xfrm>
            <a:off x="5852160" y="1929384"/>
            <a:ext cx="182880" cy="182880"/>
          </a:xfrm>
          <a:prstGeom prst="ellipse">
            <a:avLst/>
          </a:prstGeom>
          <a:solidFill>
            <a:srgbClr val="2563EB"/>
          </a:solidFill>
          <a:ln/>
        </p:spPr>
        <p:txBody>
          <a:bodyPr/>
          <a:lstStyle/>
          <a:p>
            <a:endParaRPr lang="en-IN"/>
          </a:p>
        </p:txBody>
      </p:sp>
      <p:sp>
        <p:nvSpPr>
          <p:cNvPr id="10" name="Text 8"/>
          <p:cNvSpPr/>
          <p:nvPr/>
        </p:nvSpPr>
        <p:spPr>
          <a:xfrm>
            <a:off x="6126480" y="1851660"/>
            <a:ext cx="28346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Bar Chart — Sales by Sub - Category</a:t>
            </a:r>
            <a:endParaRPr lang="en-US" sz="1100" dirty="0"/>
          </a:p>
        </p:txBody>
      </p:sp>
      <p:sp>
        <p:nvSpPr>
          <p:cNvPr id="11" name="Shape 9"/>
          <p:cNvSpPr/>
          <p:nvPr/>
        </p:nvSpPr>
        <p:spPr>
          <a:xfrm>
            <a:off x="5852160" y="2350008"/>
            <a:ext cx="182880" cy="182880"/>
          </a:xfrm>
          <a:prstGeom prst="ellipse">
            <a:avLst/>
          </a:prstGeom>
          <a:solidFill>
            <a:srgbClr val="2563EB"/>
          </a:solidFill>
          <a:ln/>
        </p:spPr>
        <p:txBody>
          <a:bodyPr/>
          <a:lstStyle/>
          <a:p>
            <a:endParaRPr lang="en-IN"/>
          </a:p>
        </p:txBody>
      </p:sp>
      <p:sp>
        <p:nvSpPr>
          <p:cNvPr id="12" name="Text 10"/>
          <p:cNvSpPr/>
          <p:nvPr/>
        </p:nvSpPr>
        <p:spPr>
          <a:xfrm>
            <a:off x="6126480" y="2272682"/>
            <a:ext cx="28346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Column Chart — Sales by Category</a:t>
            </a:r>
            <a:endParaRPr lang="en-US" sz="1100" dirty="0"/>
          </a:p>
        </p:txBody>
      </p:sp>
      <p:sp>
        <p:nvSpPr>
          <p:cNvPr id="13" name="Shape 11"/>
          <p:cNvSpPr/>
          <p:nvPr/>
        </p:nvSpPr>
        <p:spPr>
          <a:xfrm>
            <a:off x="5852160" y="2770632"/>
            <a:ext cx="182880" cy="182880"/>
          </a:xfrm>
          <a:prstGeom prst="ellipse">
            <a:avLst/>
          </a:prstGeom>
          <a:solidFill>
            <a:srgbClr val="2563EB"/>
          </a:solidFill>
          <a:ln/>
        </p:spPr>
        <p:txBody>
          <a:bodyPr/>
          <a:lstStyle/>
          <a:p>
            <a:endParaRPr lang="en-IN"/>
          </a:p>
        </p:txBody>
      </p:sp>
      <p:sp>
        <p:nvSpPr>
          <p:cNvPr id="14" name="Text 12"/>
          <p:cNvSpPr/>
          <p:nvPr/>
        </p:nvSpPr>
        <p:spPr>
          <a:xfrm>
            <a:off x="6126480" y="2693704"/>
            <a:ext cx="28346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Map — Sales by Region</a:t>
            </a:r>
            <a:endParaRPr lang="en-US" sz="1100" dirty="0"/>
          </a:p>
        </p:txBody>
      </p:sp>
      <p:sp>
        <p:nvSpPr>
          <p:cNvPr id="15" name="Shape 13"/>
          <p:cNvSpPr/>
          <p:nvPr/>
        </p:nvSpPr>
        <p:spPr>
          <a:xfrm>
            <a:off x="5852160" y="3191256"/>
            <a:ext cx="182880" cy="182880"/>
          </a:xfrm>
          <a:prstGeom prst="ellipse">
            <a:avLst/>
          </a:prstGeom>
          <a:solidFill>
            <a:srgbClr val="2563EB"/>
          </a:solidFill>
          <a:ln/>
        </p:spPr>
        <p:txBody>
          <a:bodyPr/>
          <a:lstStyle/>
          <a:p>
            <a:endParaRPr lang="en-IN"/>
          </a:p>
        </p:txBody>
      </p:sp>
      <p:sp>
        <p:nvSpPr>
          <p:cNvPr id="16" name="Text 14"/>
          <p:cNvSpPr/>
          <p:nvPr/>
        </p:nvSpPr>
        <p:spPr>
          <a:xfrm>
            <a:off x="6126480" y="3108960"/>
            <a:ext cx="28346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Slicer — State. Month</a:t>
            </a:r>
          </a:p>
        </p:txBody>
      </p:sp>
      <p:sp>
        <p:nvSpPr>
          <p:cNvPr id="17" name="Text 15"/>
          <p:cNvSpPr/>
          <p:nvPr/>
        </p:nvSpPr>
        <p:spPr>
          <a:xfrm>
            <a:off x="5852160" y="3657600"/>
            <a:ext cx="3108960" cy="27432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Key Insight</a:t>
            </a:r>
            <a:endParaRPr lang="en-US" sz="1200" dirty="0"/>
          </a:p>
        </p:txBody>
      </p:sp>
      <p:sp>
        <p:nvSpPr>
          <p:cNvPr id="18" name="Text 16"/>
          <p:cNvSpPr/>
          <p:nvPr/>
        </p:nvSpPr>
        <p:spPr>
          <a:xfrm>
            <a:off x="5852160" y="3858768"/>
            <a:ext cx="3108960" cy="777240"/>
          </a:xfrm>
          <a:prstGeom prst="rect">
            <a:avLst/>
          </a:prstGeom>
          <a:noFill/>
          <a:ln/>
        </p:spPr>
        <p:txBody>
          <a:bodyPr wrap="square"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The store generated 2.33M in gross sales and 292K in total net profit. The data reveals that the consumer segment is primary engine of business, driving over half of all sales at 50.3%. </a:t>
            </a:r>
            <a:endParaRPr lang="en-US" sz="1050" dirty="0"/>
          </a:p>
        </p:txBody>
      </p:sp>
      <p:pic>
        <p:nvPicPr>
          <p:cNvPr id="21" name="Picture 20">
            <a:extLst>
              <a:ext uri="{FF2B5EF4-FFF2-40B4-BE49-F238E27FC236}">
                <a16:creationId xmlns:a16="http://schemas.microsoft.com/office/drawing/2014/main" id="{051A76D7-80BD-7F96-BF1D-7563D58AAF66}"/>
              </a:ext>
            </a:extLst>
          </p:cNvPr>
          <p:cNvPicPr>
            <a:picLocks noChangeAspect="1"/>
          </p:cNvPicPr>
          <p:nvPr/>
        </p:nvPicPr>
        <p:blipFill>
          <a:blip r:embed="rId3"/>
          <a:stretch>
            <a:fillRect/>
          </a:stretch>
        </p:blipFill>
        <p:spPr>
          <a:xfrm>
            <a:off x="0" y="8721"/>
            <a:ext cx="2151088" cy="451386"/>
          </a:xfrm>
          <a:prstGeom prst="rect">
            <a:avLst/>
          </a:prstGeom>
        </p:spPr>
      </p:pic>
      <p:pic>
        <p:nvPicPr>
          <p:cNvPr id="22" name="Picture 21">
            <a:extLst>
              <a:ext uri="{FF2B5EF4-FFF2-40B4-BE49-F238E27FC236}">
                <a16:creationId xmlns:a16="http://schemas.microsoft.com/office/drawing/2014/main" id="{FA648162-BD02-EECD-41E6-F4929C995D7D}"/>
              </a:ext>
            </a:extLst>
          </p:cNvPr>
          <p:cNvPicPr>
            <a:picLocks noChangeAspect="1"/>
          </p:cNvPicPr>
          <p:nvPr/>
        </p:nvPicPr>
        <p:blipFill>
          <a:blip r:embed="rId4"/>
          <a:stretch>
            <a:fillRect/>
          </a:stretch>
        </p:blipFill>
        <p:spPr>
          <a:xfrm>
            <a:off x="348247" y="1042363"/>
            <a:ext cx="5321033" cy="33467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6B"/>
          </a:solidFill>
          <a:ln/>
        </p:spPr>
        <p:txBody>
          <a:bodyPr/>
          <a:lstStyle/>
          <a:p>
            <a:endParaRPr lang="en-IN"/>
          </a:p>
        </p:txBody>
      </p:sp>
      <p:sp>
        <p:nvSpPr>
          <p:cNvPr id="3" name="Text 1"/>
          <p:cNvSpPr/>
          <p:nvPr/>
        </p:nvSpPr>
        <p:spPr>
          <a:xfrm>
            <a:off x="457200" y="594360"/>
            <a:ext cx="8229600" cy="457200"/>
          </a:xfrm>
          <a:prstGeom prst="rect">
            <a:avLst/>
          </a:prstGeom>
          <a:noFill/>
          <a:ln/>
        </p:spPr>
        <p:txBody>
          <a:bodyPr wrap="square" rtlCol="0" anchor="ctr"/>
          <a:lstStyle/>
          <a:p>
            <a:pPr marL="0" indent="0">
              <a:buNone/>
            </a:pPr>
            <a:r>
              <a:rPr lang="en-US" sz="2600" b="1" dirty="0">
                <a:solidFill>
                  <a:srgbClr val="1B3A6B"/>
                </a:solidFill>
                <a:latin typeface="Cambria" pitchFamily="34" charset="0"/>
                <a:ea typeface="Cambria" pitchFamily="34" charset="-122"/>
                <a:cs typeface="Cambria" pitchFamily="34" charset="-120"/>
              </a:rPr>
              <a:t>Key Findings &amp; Insights</a:t>
            </a:r>
            <a:endParaRPr lang="en-US" sz="2600" dirty="0"/>
          </a:p>
        </p:txBody>
      </p:sp>
      <p:sp>
        <p:nvSpPr>
          <p:cNvPr id="4" name="Shape 2"/>
          <p:cNvSpPr/>
          <p:nvPr/>
        </p:nvSpPr>
        <p:spPr>
          <a:xfrm>
            <a:off x="365760" y="1143000"/>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502920" y="1435608"/>
            <a:ext cx="411480" cy="411480"/>
          </a:xfrm>
          <a:prstGeom prst="ellipse">
            <a:avLst/>
          </a:prstGeom>
          <a:solidFill>
            <a:srgbClr val="2563EB"/>
          </a:solidFill>
          <a:ln/>
        </p:spPr>
        <p:txBody>
          <a:bodyPr/>
          <a:lstStyle/>
          <a:p>
            <a:endParaRPr lang="en-IN"/>
          </a:p>
        </p:txBody>
      </p:sp>
      <p:sp>
        <p:nvSpPr>
          <p:cNvPr id="6" name="Text 4"/>
          <p:cNvSpPr/>
          <p:nvPr/>
        </p:nvSpPr>
        <p:spPr>
          <a:xfrm>
            <a:off x="502920" y="1444752"/>
            <a:ext cx="411480" cy="393192"/>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1005840" y="1234440"/>
            <a:ext cx="3246120" cy="8229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 west region stands out as the store’s primary market, acting as the highest contributor to total revenue.</a:t>
            </a:r>
            <a:endParaRPr lang="en-US" sz="1100" dirty="0"/>
          </a:p>
        </p:txBody>
      </p:sp>
      <p:sp>
        <p:nvSpPr>
          <p:cNvPr id="8" name="Shape 6"/>
          <p:cNvSpPr/>
          <p:nvPr/>
        </p:nvSpPr>
        <p:spPr>
          <a:xfrm>
            <a:off x="365760" y="2313432"/>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9" name="Shape 7"/>
          <p:cNvSpPr/>
          <p:nvPr/>
        </p:nvSpPr>
        <p:spPr>
          <a:xfrm>
            <a:off x="502920" y="2606040"/>
            <a:ext cx="411480" cy="411480"/>
          </a:xfrm>
          <a:prstGeom prst="ellipse">
            <a:avLst/>
          </a:prstGeom>
          <a:solidFill>
            <a:srgbClr val="0D9488"/>
          </a:solidFill>
          <a:ln/>
        </p:spPr>
        <p:txBody>
          <a:bodyPr/>
          <a:lstStyle/>
          <a:p>
            <a:endParaRPr lang="en-IN"/>
          </a:p>
        </p:txBody>
      </p:sp>
      <p:sp>
        <p:nvSpPr>
          <p:cNvPr id="10" name="Text 8"/>
          <p:cNvSpPr/>
          <p:nvPr/>
        </p:nvSpPr>
        <p:spPr>
          <a:xfrm>
            <a:off x="502920" y="2615184"/>
            <a:ext cx="411480" cy="393192"/>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1" name="Text 9"/>
          <p:cNvSpPr/>
          <p:nvPr/>
        </p:nvSpPr>
        <p:spPr>
          <a:xfrm>
            <a:off x="1005840" y="2404872"/>
            <a:ext cx="3246120" cy="8229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 consumer customer segment is the main engine of the business, driving over half of all generated dashboard sales at 50.32%.</a:t>
            </a:r>
            <a:endParaRPr lang="en-US" sz="1100" dirty="0"/>
          </a:p>
        </p:txBody>
      </p:sp>
      <p:sp>
        <p:nvSpPr>
          <p:cNvPr id="12" name="Shape 10"/>
          <p:cNvSpPr/>
          <p:nvPr/>
        </p:nvSpPr>
        <p:spPr>
          <a:xfrm>
            <a:off x="365760" y="3483864"/>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3" name="Shape 11"/>
          <p:cNvSpPr/>
          <p:nvPr/>
        </p:nvSpPr>
        <p:spPr>
          <a:xfrm>
            <a:off x="502920" y="3776472"/>
            <a:ext cx="411480" cy="411480"/>
          </a:xfrm>
          <a:prstGeom prst="ellipse">
            <a:avLst/>
          </a:prstGeom>
          <a:solidFill>
            <a:srgbClr val="EA580C"/>
          </a:solidFill>
          <a:ln/>
        </p:spPr>
        <p:txBody>
          <a:bodyPr/>
          <a:lstStyle/>
          <a:p>
            <a:endParaRPr lang="en-IN"/>
          </a:p>
        </p:txBody>
      </p:sp>
      <p:sp>
        <p:nvSpPr>
          <p:cNvPr id="14" name="Text 12"/>
          <p:cNvSpPr/>
          <p:nvPr/>
        </p:nvSpPr>
        <p:spPr>
          <a:xfrm>
            <a:off x="502920" y="3785616"/>
            <a:ext cx="411480" cy="393192"/>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15" name="Text 13"/>
          <p:cNvSpPr/>
          <p:nvPr/>
        </p:nvSpPr>
        <p:spPr>
          <a:xfrm>
            <a:off x="1005840" y="3575304"/>
            <a:ext cx="3246120" cy="8229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Sales and overall revenue streams show a healthy, consistent upward trajectory when tracked year-over-year.</a:t>
            </a:r>
            <a:endParaRPr lang="en-US" sz="1100" dirty="0"/>
          </a:p>
        </p:txBody>
      </p:sp>
      <p:sp>
        <p:nvSpPr>
          <p:cNvPr id="16" name="Shape 14"/>
          <p:cNvSpPr/>
          <p:nvPr/>
        </p:nvSpPr>
        <p:spPr>
          <a:xfrm>
            <a:off x="4937760" y="1143000"/>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17" name="Shape 15"/>
          <p:cNvSpPr/>
          <p:nvPr/>
        </p:nvSpPr>
        <p:spPr>
          <a:xfrm>
            <a:off x="5074920" y="1435608"/>
            <a:ext cx="411480" cy="411480"/>
          </a:xfrm>
          <a:prstGeom prst="ellipse">
            <a:avLst/>
          </a:prstGeom>
          <a:solidFill>
            <a:srgbClr val="16A34A"/>
          </a:solidFill>
          <a:ln/>
        </p:spPr>
        <p:txBody>
          <a:bodyPr/>
          <a:lstStyle/>
          <a:p>
            <a:endParaRPr lang="en-IN"/>
          </a:p>
        </p:txBody>
      </p:sp>
      <p:sp>
        <p:nvSpPr>
          <p:cNvPr id="18" name="Text 16"/>
          <p:cNvSpPr/>
          <p:nvPr/>
        </p:nvSpPr>
        <p:spPr>
          <a:xfrm>
            <a:off x="5074920" y="1444752"/>
            <a:ext cx="411480" cy="393192"/>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sp>
        <p:nvSpPr>
          <p:cNvPr id="19" name="Text 17"/>
          <p:cNvSpPr/>
          <p:nvPr/>
        </p:nvSpPr>
        <p:spPr>
          <a:xfrm>
            <a:off x="5577840" y="1234440"/>
            <a:ext cx="3246120" cy="8229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Product revenue is evenly balanced across categories, with Technology, Furniture, and Office Supplies pulling similar sales volume.</a:t>
            </a:r>
            <a:endParaRPr lang="en-US" sz="1100" dirty="0"/>
          </a:p>
        </p:txBody>
      </p:sp>
      <p:sp>
        <p:nvSpPr>
          <p:cNvPr id="20" name="Shape 18"/>
          <p:cNvSpPr/>
          <p:nvPr/>
        </p:nvSpPr>
        <p:spPr>
          <a:xfrm>
            <a:off x="4937760" y="2313432"/>
            <a:ext cx="4023360" cy="1005840"/>
          </a:xfrm>
          <a:prstGeom prst="roundRect">
            <a:avLst>
              <a:gd name="adj" fmla="val 7273"/>
            </a:avLst>
          </a:prstGeom>
          <a:solidFill>
            <a:srgbClr val="FFFFFF"/>
          </a:solidFill>
          <a:ln w="9525">
            <a:solidFill>
              <a:srgbClr val="E2E8F0"/>
            </a:solidFill>
            <a:prstDash val="solid"/>
          </a:ln>
          <a:effectLst>
            <a:outerShdw blurRad="101600" dist="38100" dir="2700000" algn="bl" rotWithShape="0">
              <a:srgbClr val="000000">
                <a:alpha val="12000"/>
              </a:srgbClr>
            </a:outerShdw>
          </a:effectLst>
        </p:spPr>
        <p:txBody>
          <a:bodyPr/>
          <a:lstStyle/>
          <a:p>
            <a:endParaRPr lang="en-IN"/>
          </a:p>
        </p:txBody>
      </p:sp>
      <p:sp>
        <p:nvSpPr>
          <p:cNvPr id="21" name="Shape 19"/>
          <p:cNvSpPr/>
          <p:nvPr/>
        </p:nvSpPr>
        <p:spPr>
          <a:xfrm>
            <a:off x="5074920" y="2606040"/>
            <a:ext cx="411480" cy="411480"/>
          </a:xfrm>
          <a:prstGeom prst="ellipse">
            <a:avLst/>
          </a:prstGeom>
          <a:solidFill>
            <a:srgbClr val="7C3AED"/>
          </a:solidFill>
          <a:ln/>
        </p:spPr>
        <p:txBody>
          <a:bodyPr/>
          <a:lstStyle/>
          <a:p>
            <a:endParaRPr lang="en-IN"/>
          </a:p>
        </p:txBody>
      </p:sp>
      <p:sp>
        <p:nvSpPr>
          <p:cNvPr id="22" name="Text 20"/>
          <p:cNvSpPr/>
          <p:nvPr/>
        </p:nvSpPr>
        <p:spPr>
          <a:xfrm>
            <a:off x="5074920" y="2615184"/>
            <a:ext cx="411480" cy="393192"/>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05</a:t>
            </a:r>
            <a:endParaRPr lang="en-US" sz="1200" dirty="0"/>
          </a:p>
        </p:txBody>
      </p:sp>
      <p:sp>
        <p:nvSpPr>
          <p:cNvPr id="23" name="Text 21"/>
          <p:cNvSpPr/>
          <p:nvPr/>
        </p:nvSpPr>
        <p:spPr>
          <a:xfrm>
            <a:off x="5577840" y="2404872"/>
            <a:ext cx="3246120" cy="8229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Net profitability remains strong and is heavily backed by high-performing sub-categories like Copiers and Phones.</a:t>
            </a:r>
            <a:endParaRPr lang="en-US" sz="1100" dirty="0"/>
          </a:p>
        </p:txBody>
      </p:sp>
      <p:pic>
        <p:nvPicPr>
          <p:cNvPr id="26" name="Picture 25">
            <a:extLst>
              <a:ext uri="{FF2B5EF4-FFF2-40B4-BE49-F238E27FC236}">
                <a16:creationId xmlns:a16="http://schemas.microsoft.com/office/drawing/2014/main" id="{479F977E-F519-1A37-860E-773E9E24D026}"/>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368">
            <a:alpha val="96000"/>
          </a:srgbClr>
        </a:solidFill>
        <a:effectLst/>
      </p:bgPr>
    </p:bg>
    <p:spTree>
      <p:nvGrpSpPr>
        <p:cNvPr id="1" name=""/>
        <p:cNvGrpSpPr/>
        <p:nvPr/>
      </p:nvGrpSpPr>
      <p:grpSpPr>
        <a:xfrm>
          <a:off x="0" y="0"/>
          <a:ext cx="0" cy="0"/>
          <a:chOff x="0" y="0"/>
          <a:chExt cx="0" cy="0"/>
        </a:xfrm>
      </p:grpSpPr>
      <p:sp>
        <p:nvSpPr>
          <p:cNvPr id="16" name="Shape 0">
            <a:extLst>
              <a:ext uri="{FF2B5EF4-FFF2-40B4-BE49-F238E27FC236}">
                <a16:creationId xmlns:a16="http://schemas.microsoft.com/office/drawing/2014/main" id="{A3EA70AD-C4E7-39B1-FE8D-E8C91527C9A1}"/>
              </a:ext>
            </a:extLst>
          </p:cNvPr>
          <p:cNvSpPr/>
          <p:nvPr/>
        </p:nvSpPr>
        <p:spPr>
          <a:xfrm>
            <a:off x="6583680" y="-914400"/>
            <a:ext cx="4114800" cy="4114800"/>
          </a:xfrm>
          <a:prstGeom prst="ellipse">
            <a:avLst/>
          </a:prstGeom>
          <a:solidFill>
            <a:srgbClr val="FFFFFF">
              <a:alpha val="6000"/>
            </a:srgbClr>
          </a:solidFill>
          <a:ln/>
        </p:spPr>
        <p:txBody>
          <a:bodyPr/>
          <a:lstStyle/>
          <a:p>
            <a:endParaRPr lang="en-IN" dirty="0"/>
          </a:p>
        </p:txBody>
      </p:sp>
      <p:sp>
        <p:nvSpPr>
          <p:cNvPr id="17" name="Shape 1">
            <a:extLst>
              <a:ext uri="{FF2B5EF4-FFF2-40B4-BE49-F238E27FC236}">
                <a16:creationId xmlns:a16="http://schemas.microsoft.com/office/drawing/2014/main" id="{24059F9F-9E84-5285-A191-48DE1A466A58}"/>
              </a:ext>
            </a:extLst>
          </p:cNvPr>
          <p:cNvSpPr/>
          <p:nvPr/>
        </p:nvSpPr>
        <p:spPr>
          <a:xfrm>
            <a:off x="7315200" y="2926080"/>
            <a:ext cx="2286000" cy="2286000"/>
          </a:xfrm>
          <a:prstGeom prst="ellipse">
            <a:avLst/>
          </a:prstGeom>
          <a:solidFill>
            <a:srgbClr val="FFFFFF">
              <a:alpha val="4000"/>
            </a:srgbClr>
          </a:solidFill>
          <a:ln/>
        </p:spPr>
        <p:txBody>
          <a:bodyPr/>
          <a:lstStyle/>
          <a:p>
            <a:endParaRPr lang="en-IN"/>
          </a:p>
        </p:txBody>
      </p:sp>
      <p:sp>
        <p:nvSpPr>
          <p:cNvPr id="18" name="Text 2">
            <a:extLst>
              <a:ext uri="{FF2B5EF4-FFF2-40B4-BE49-F238E27FC236}">
                <a16:creationId xmlns:a16="http://schemas.microsoft.com/office/drawing/2014/main" id="{8F2A6CCC-FFBF-4918-5462-DBE3466B2418}"/>
              </a:ext>
            </a:extLst>
          </p:cNvPr>
          <p:cNvSpPr/>
          <p:nvPr/>
        </p:nvSpPr>
        <p:spPr>
          <a:xfrm>
            <a:off x="548640" y="640080"/>
            <a:ext cx="7772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Learning</a:t>
            </a:r>
            <a:endParaRPr lang="en-US" sz="3000" dirty="0"/>
          </a:p>
        </p:txBody>
      </p:sp>
      <p:sp>
        <p:nvSpPr>
          <p:cNvPr id="19" name="Shape 3">
            <a:extLst>
              <a:ext uri="{FF2B5EF4-FFF2-40B4-BE49-F238E27FC236}">
                <a16:creationId xmlns:a16="http://schemas.microsoft.com/office/drawing/2014/main" id="{92794BAE-32D7-1C58-4E23-103684221270}"/>
              </a:ext>
            </a:extLst>
          </p:cNvPr>
          <p:cNvSpPr/>
          <p:nvPr/>
        </p:nvSpPr>
        <p:spPr>
          <a:xfrm>
            <a:off x="549946" y="1554480"/>
            <a:ext cx="146304" cy="320040"/>
          </a:xfrm>
          <a:prstGeom prst="rect">
            <a:avLst/>
          </a:prstGeom>
          <a:solidFill>
            <a:srgbClr val="2563EB"/>
          </a:solidFill>
          <a:ln/>
        </p:spPr>
        <p:txBody>
          <a:bodyPr/>
          <a:lstStyle/>
          <a:p>
            <a:endParaRPr lang="en-IN"/>
          </a:p>
        </p:txBody>
      </p:sp>
      <p:sp>
        <p:nvSpPr>
          <p:cNvPr id="20" name="Text 4">
            <a:extLst>
              <a:ext uri="{FF2B5EF4-FFF2-40B4-BE49-F238E27FC236}">
                <a16:creationId xmlns:a16="http://schemas.microsoft.com/office/drawing/2014/main" id="{B0A4E04A-9B01-C221-2B8E-0ABD34CFE24B}"/>
              </a:ext>
            </a:extLst>
          </p:cNvPr>
          <p:cNvSpPr/>
          <p:nvPr/>
        </p:nvSpPr>
        <p:spPr>
          <a:xfrm>
            <a:off x="804671" y="1463040"/>
            <a:ext cx="7498080" cy="548640"/>
          </a:xfrm>
          <a:prstGeom prst="rect">
            <a:avLst/>
          </a:prstGeom>
          <a:noFill/>
          <a:ln/>
        </p:spPr>
        <p:txBody>
          <a:bodyPr wrap="square" rtlCol="0" anchor="ctr"/>
          <a:lstStyle/>
          <a:p>
            <a:pPr marL="0" indent="0">
              <a:buNone/>
            </a:pPr>
            <a:r>
              <a:rPr lang="en-US" sz="2000" dirty="0">
                <a:solidFill>
                  <a:srgbClr val="DBEAFE"/>
                </a:solidFill>
                <a:latin typeface="Calibri" pitchFamily="34" charset="0"/>
                <a:ea typeface="Calibri" pitchFamily="34" charset="-122"/>
                <a:cs typeface="Calibri" pitchFamily="34" charset="-120"/>
              </a:rPr>
              <a:t>Built a complete Power BI Pipeline to transform raw retail data into clear, interactive visuals.</a:t>
            </a:r>
            <a:endParaRPr lang="en-US" sz="2000" dirty="0"/>
          </a:p>
        </p:txBody>
      </p:sp>
      <p:sp>
        <p:nvSpPr>
          <p:cNvPr id="23" name="Shape 7">
            <a:extLst>
              <a:ext uri="{FF2B5EF4-FFF2-40B4-BE49-F238E27FC236}">
                <a16:creationId xmlns:a16="http://schemas.microsoft.com/office/drawing/2014/main" id="{A9FB090B-6C53-E10D-8483-DCD8861BB710}"/>
              </a:ext>
            </a:extLst>
          </p:cNvPr>
          <p:cNvSpPr/>
          <p:nvPr/>
        </p:nvSpPr>
        <p:spPr>
          <a:xfrm>
            <a:off x="548640" y="2391156"/>
            <a:ext cx="146304" cy="320040"/>
          </a:xfrm>
          <a:prstGeom prst="rect">
            <a:avLst/>
          </a:prstGeom>
          <a:solidFill>
            <a:srgbClr val="2563EB"/>
          </a:solidFill>
          <a:ln/>
        </p:spPr>
        <p:txBody>
          <a:bodyPr/>
          <a:lstStyle/>
          <a:p>
            <a:endParaRPr lang="en-IN"/>
          </a:p>
        </p:txBody>
      </p:sp>
      <p:sp>
        <p:nvSpPr>
          <p:cNvPr id="24" name="Text 8">
            <a:extLst>
              <a:ext uri="{FF2B5EF4-FFF2-40B4-BE49-F238E27FC236}">
                <a16:creationId xmlns:a16="http://schemas.microsoft.com/office/drawing/2014/main" id="{B817EA03-0504-06FF-F449-05222C4C09BB}"/>
              </a:ext>
            </a:extLst>
          </p:cNvPr>
          <p:cNvSpPr/>
          <p:nvPr/>
        </p:nvSpPr>
        <p:spPr>
          <a:xfrm>
            <a:off x="804671" y="2294817"/>
            <a:ext cx="7772400" cy="548640"/>
          </a:xfrm>
          <a:prstGeom prst="rect">
            <a:avLst/>
          </a:prstGeom>
          <a:noFill/>
          <a:ln/>
        </p:spPr>
        <p:txBody>
          <a:bodyPr wrap="square" rtlCol="0" anchor="ctr"/>
          <a:lstStyle/>
          <a:p>
            <a:pPr marL="0" indent="0">
              <a:buNone/>
            </a:pPr>
            <a:r>
              <a:rPr lang="en-US" sz="2000" dirty="0">
                <a:solidFill>
                  <a:srgbClr val="DBEAFE"/>
                </a:solidFill>
                <a:latin typeface="Calibri" pitchFamily="34" charset="0"/>
                <a:ea typeface="Calibri" pitchFamily="34" charset="-122"/>
                <a:cs typeface="Calibri" pitchFamily="34" charset="-120"/>
              </a:rPr>
              <a:t>Learned data cleaning in Power Query and created DAX measures to calculate precise profit margins.</a:t>
            </a:r>
            <a:endParaRPr lang="en-US" sz="2000" dirty="0"/>
          </a:p>
        </p:txBody>
      </p:sp>
      <p:sp>
        <p:nvSpPr>
          <p:cNvPr id="25" name="Shape 9">
            <a:extLst>
              <a:ext uri="{FF2B5EF4-FFF2-40B4-BE49-F238E27FC236}">
                <a16:creationId xmlns:a16="http://schemas.microsoft.com/office/drawing/2014/main" id="{0122203B-0FAE-A1BC-0C1C-DCD346C217E2}"/>
              </a:ext>
            </a:extLst>
          </p:cNvPr>
          <p:cNvSpPr/>
          <p:nvPr/>
        </p:nvSpPr>
        <p:spPr>
          <a:xfrm>
            <a:off x="548640" y="3227832"/>
            <a:ext cx="146304" cy="320040"/>
          </a:xfrm>
          <a:prstGeom prst="rect">
            <a:avLst/>
          </a:prstGeom>
          <a:solidFill>
            <a:srgbClr val="2563EB"/>
          </a:solidFill>
          <a:ln/>
        </p:spPr>
        <p:txBody>
          <a:bodyPr/>
          <a:lstStyle/>
          <a:p>
            <a:endParaRPr lang="en-IN"/>
          </a:p>
        </p:txBody>
      </p:sp>
      <p:sp>
        <p:nvSpPr>
          <p:cNvPr id="26" name="Text 10">
            <a:extLst>
              <a:ext uri="{FF2B5EF4-FFF2-40B4-BE49-F238E27FC236}">
                <a16:creationId xmlns:a16="http://schemas.microsoft.com/office/drawing/2014/main" id="{5F144FF8-0F18-D3AB-7463-E4D9C3E9EBA8}"/>
              </a:ext>
            </a:extLst>
          </p:cNvPr>
          <p:cNvSpPr/>
          <p:nvPr/>
        </p:nvSpPr>
        <p:spPr>
          <a:xfrm>
            <a:off x="804672" y="3113532"/>
            <a:ext cx="7498080" cy="548640"/>
          </a:xfrm>
          <a:prstGeom prst="rect">
            <a:avLst/>
          </a:prstGeom>
          <a:noFill/>
          <a:ln/>
        </p:spPr>
        <p:txBody>
          <a:bodyPr wrap="square" rtlCol="0" anchor="ctr"/>
          <a:lstStyle/>
          <a:p>
            <a:pPr marL="0" indent="0">
              <a:buNone/>
            </a:pPr>
            <a:r>
              <a:rPr lang="en-US" sz="2000" dirty="0">
                <a:solidFill>
                  <a:srgbClr val="DBEAFE"/>
                </a:solidFill>
                <a:latin typeface="Calibri" pitchFamily="34" charset="0"/>
                <a:ea typeface="Calibri" pitchFamily="34" charset="-122"/>
                <a:cs typeface="Calibri" pitchFamily="34" charset="-120"/>
              </a:rPr>
              <a:t>Learned how to design centralized dashboards that help managers replace slow, manual spreadsheets with real-time decisions.</a:t>
            </a:r>
            <a:endParaRPr lang="en-US" sz="2000" dirty="0"/>
          </a:p>
        </p:txBody>
      </p:sp>
      <p:sp>
        <p:nvSpPr>
          <p:cNvPr id="28" name="Text 15">
            <a:extLst>
              <a:ext uri="{FF2B5EF4-FFF2-40B4-BE49-F238E27FC236}">
                <a16:creationId xmlns:a16="http://schemas.microsoft.com/office/drawing/2014/main" id="{9D9F498E-E75E-1E87-D669-E5542E9720DA}"/>
              </a:ext>
            </a:extLst>
          </p:cNvPr>
          <p:cNvSpPr/>
          <p:nvPr/>
        </p:nvSpPr>
        <p:spPr>
          <a:xfrm>
            <a:off x="8046720" y="4800600"/>
            <a:ext cx="914400" cy="274320"/>
          </a:xfrm>
          <a:prstGeom prst="rect">
            <a:avLst/>
          </a:prstGeom>
          <a:noFill/>
          <a:ln/>
        </p:spPr>
        <p:txBody>
          <a:bodyPr wrap="square" rtlCol="0" anchor="ctr"/>
          <a:lstStyle/>
          <a:p>
            <a:pPr marL="0" indent="0" algn="r">
              <a:buNone/>
            </a:pPr>
            <a:r>
              <a:rPr lang="en-US" sz="900" dirty="0">
                <a:solidFill>
                  <a:srgbClr val="93C5FD"/>
                </a:solidFill>
              </a:rPr>
              <a:t> </a:t>
            </a:r>
            <a:endParaRPr lang="en-US" sz="900" dirty="0"/>
          </a:p>
        </p:txBody>
      </p:sp>
      <p:pic>
        <p:nvPicPr>
          <p:cNvPr id="29" name="Picture 28">
            <a:extLst>
              <a:ext uri="{FF2B5EF4-FFF2-40B4-BE49-F238E27FC236}">
                <a16:creationId xmlns:a16="http://schemas.microsoft.com/office/drawing/2014/main" id="{DD8367F8-81B9-7F36-F158-44A93E9EA4E0}"/>
              </a:ext>
            </a:extLst>
          </p:cNvPr>
          <p:cNvPicPr>
            <a:picLocks noChangeAspect="1"/>
          </p:cNvPicPr>
          <p:nvPr/>
        </p:nvPicPr>
        <p:blipFill>
          <a:blip r:embed="rId2"/>
          <a:stretch>
            <a:fillRect/>
          </a:stretch>
        </p:blipFill>
        <p:spPr>
          <a:xfrm>
            <a:off x="0" y="8721"/>
            <a:ext cx="2151088" cy="451386"/>
          </a:xfrm>
          <a:prstGeom prst="rect">
            <a:avLst/>
          </a:prstGeom>
        </p:spPr>
      </p:pic>
    </p:spTree>
    <p:extLst>
      <p:ext uri="{BB962C8B-B14F-4D97-AF65-F5344CB8AC3E}">
        <p14:creationId xmlns:p14="http://schemas.microsoft.com/office/powerpoint/2010/main" val="4068049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6583680" y="-914400"/>
            <a:ext cx="4114800" cy="4114800"/>
          </a:xfrm>
          <a:prstGeom prst="ellipse">
            <a:avLst/>
          </a:prstGeom>
          <a:solidFill>
            <a:srgbClr val="FFFFFF">
              <a:alpha val="6000"/>
            </a:srgbClr>
          </a:solidFill>
          <a:ln/>
        </p:spPr>
        <p:txBody>
          <a:bodyPr/>
          <a:lstStyle/>
          <a:p>
            <a:endParaRPr lang="en-IN"/>
          </a:p>
        </p:txBody>
      </p:sp>
      <p:sp>
        <p:nvSpPr>
          <p:cNvPr id="3" name="Shape 1"/>
          <p:cNvSpPr/>
          <p:nvPr/>
        </p:nvSpPr>
        <p:spPr>
          <a:xfrm>
            <a:off x="7315200" y="2926080"/>
            <a:ext cx="2286000" cy="2286000"/>
          </a:xfrm>
          <a:prstGeom prst="ellipse">
            <a:avLst/>
          </a:prstGeom>
          <a:solidFill>
            <a:srgbClr val="FFFFFF">
              <a:alpha val="4000"/>
            </a:srgbClr>
          </a:solidFill>
          <a:ln/>
        </p:spPr>
        <p:txBody>
          <a:bodyPr/>
          <a:lstStyle/>
          <a:p>
            <a:endParaRPr lang="en-IN"/>
          </a:p>
        </p:txBody>
      </p:sp>
      <p:sp>
        <p:nvSpPr>
          <p:cNvPr id="4" name="Text 2"/>
          <p:cNvSpPr/>
          <p:nvPr/>
        </p:nvSpPr>
        <p:spPr>
          <a:xfrm>
            <a:off x="548640" y="640080"/>
            <a:ext cx="7772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Thank You</a:t>
            </a:r>
            <a:endParaRPr lang="en-US" sz="3000" dirty="0"/>
          </a:p>
        </p:txBody>
      </p:sp>
      <p:sp>
        <p:nvSpPr>
          <p:cNvPr id="5" name="Shape 3"/>
          <p:cNvSpPr/>
          <p:nvPr/>
        </p:nvSpPr>
        <p:spPr>
          <a:xfrm>
            <a:off x="548640" y="1444752"/>
            <a:ext cx="146304" cy="320040"/>
          </a:xfrm>
          <a:prstGeom prst="rect">
            <a:avLst/>
          </a:prstGeom>
          <a:solidFill>
            <a:srgbClr val="2563EB"/>
          </a:solidFill>
          <a:ln/>
        </p:spPr>
        <p:txBody>
          <a:bodyPr/>
          <a:lstStyle/>
          <a:p>
            <a:endParaRPr lang="en-IN"/>
          </a:p>
        </p:txBody>
      </p:sp>
      <p:sp>
        <p:nvSpPr>
          <p:cNvPr id="6" name="Text 4"/>
          <p:cNvSpPr/>
          <p:nvPr/>
        </p:nvSpPr>
        <p:spPr>
          <a:xfrm>
            <a:off x="804672" y="1325009"/>
            <a:ext cx="7498080" cy="548640"/>
          </a:xfrm>
          <a:prstGeom prst="rect">
            <a:avLst/>
          </a:prstGeom>
          <a:noFill/>
          <a:ln/>
        </p:spPr>
        <p:txBody>
          <a:bodyPr wrap="square" rtlCol="0" anchor="ctr"/>
          <a:lstStyle/>
          <a:p>
            <a:pPr marL="0" indent="0">
              <a:buNone/>
            </a:pPr>
            <a:r>
              <a:rPr lang="en-US" sz="1300" dirty="0">
                <a:solidFill>
                  <a:srgbClr val="DBEAFE"/>
                </a:solidFill>
                <a:latin typeface="Calibri" pitchFamily="34" charset="0"/>
                <a:ea typeface="Calibri" pitchFamily="34" charset="-122"/>
                <a:cs typeface="Calibri" pitchFamily="34" charset="-120"/>
              </a:rPr>
              <a:t>Successfully built an end-to-end Power BI solution from raw data to published dashboard.</a:t>
            </a:r>
            <a:endParaRPr lang="en-US" sz="1300" dirty="0"/>
          </a:p>
        </p:txBody>
      </p:sp>
      <p:sp>
        <p:nvSpPr>
          <p:cNvPr id="7" name="Shape 5"/>
          <p:cNvSpPr/>
          <p:nvPr/>
        </p:nvSpPr>
        <p:spPr>
          <a:xfrm>
            <a:off x="548640" y="2039112"/>
            <a:ext cx="146304" cy="320040"/>
          </a:xfrm>
          <a:prstGeom prst="rect">
            <a:avLst/>
          </a:prstGeom>
          <a:solidFill>
            <a:srgbClr val="2563EB"/>
          </a:solidFill>
          <a:ln/>
        </p:spPr>
        <p:txBody>
          <a:bodyPr/>
          <a:lstStyle/>
          <a:p>
            <a:endParaRPr lang="en-IN"/>
          </a:p>
        </p:txBody>
      </p:sp>
      <p:sp>
        <p:nvSpPr>
          <p:cNvPr id="8" name="Text 6"/>
          <p:cNvSpPr/>
          <p:nvPr/>
        </p:nvSpPr>
        <p:spPr>
          <a:xfrm>
            <a:off x="804672" y="1930037"/>
            <a:ext cx="7498080" cy="548640"/>
          </a:xfrm>
          <a:prstGeom prst="rect">
            <a:avLst/>
          </a:prstGeom>
          <a:noFill/>
          <a:ln/>
        </p:spPr>
        <p:txBody>
          <a:bodyPr wrap="square" rtlCol="0" anchor="ctr"/>
          <a:lstStyle/>
          <a:p>
            <a:pPr marL="0" indent="0">
              <a:buNone/>
            </a:pPr>
            <a:r>
              <a:rPr lang="en-US" sz="1300" dirty="0">
                <a:solidFill>
                  <a:srgbClr val="DBEAFE"/>
                </a:solidFill>
                <a:latin typeface="Calibri" pitchFamily="34" charset="0"/>
                <a:cs typeface="Calibri" pitchFamily="34" charset="-120"/>
              </a:rPr>
              <a:t>Acquired hands-on experience in structuring clean data relationships and optimizing analytical report layouts.</a:t>
            </a:r>
            <a:endParaRPr lang="en-US" sz="1300" dirty="0"/>
          </a:p>
        </p:txBody>
      </p:sp>
      <p:sp>
        <p:nvSpPr>
          <p:cNvPr id="9" name="Shape 7"/>
          <p:cNvSpPr/>
          <p:nvPr/>
        </p:nvSpPr>
        <p:spPr>
          <a:xfrm>
            <a:off x="548640" y="2633472"/>
            <a:ext cx="146304" cy="320040"/>
          </a:xfrm>
          <a:prstGeom prst="rect">
            <a:avLst/>
          </a:prstGeom>
          <a:solidFill>
            <a:srgbClr val="2563EB"/>
          </a:solidFill>
          <a:ln/>
        </p:spPr>
        <p:txBody>
          <a:bodyPr/>
          <a:lstStyle/>
          <a:p>
            <a:endParaRPr lang="en-IN"/>
          </a:p>
        </p:txBody>
      </p:sp>
      <p:sp>
        <p:nvSpPr>
          <p:cNvPr id="10" name="Text 8"/>
          <p:cNvSpPr/>
          <p:nvPr/>
        </p:nvSpPr>
        <p:spPr>
          <a:xfrm>
            <a:off x="804672" y="2514600"/>
            <a:ext cx="7498080" cy="548640"/>
          </a:xfrm>
          <a:prstGeom prst="rect">
            <a:avLst/>
          </a:prstGeom>
          <a:noFill/>
          <a:ln/>
        </p:spPr>
        <p:txBody>
          <a:bodyPr wrap="square" rtlCol="0" anchor="ctr"/>
          <a:lstStyle/>
          <a:p>
            <a:pPr marL="0" indent="0">
              <a:buNone/>
            </a:pPr>
            <a:r>
              <a:rPr lang="en-US" sz="1300" dirty="0">
                <a:solidFill>
                  <a:srgbClr val="DBEAFE"/>
                </a:solidFill>
                <a:latin typeface="Calibri" pitchFamily="34" charset="0"/>
                <a:ea typeface="Calibri" pitchFamily="34" charset="-122"/>
                <a:cs typeface="Calibri" pitchFamily="34" charset="-120"/>
              </a:rPr>
              <a:t>Established a scalable reporting framework that allows stakeholders to instantly identify and resolve regional profit drops.</a:t>
            </a:r>
            <a:endParaRPr lang="en-US" sz="1300" dirty="0"/>
          </a:p>
        </p:txBody>
      </p:sp>
      <p:sp>
        <p:nvSpPr>
          <p:cNvPr id="11" name="Shape 9"/>
          <p:cNvSpPr/>
          <p:nvPr/>
        </p:nvSpPr>
        <p:spPr>
          <a:xfrm>
            <a:off x="548640" y="3227832"/>
            <a:ext cx="146304" cy="320040"/>
          </a:xfrm>
          <a:prstGeom prst="rect">
            <a:avLst/>
          </a:prstGeom>
          <a:solidFill>
            <a:srgbClr val="2563EB"/>
          </a:solidFill>
          <a:ln/>
        </p:spPr>
        <p:txBody>
          <a:bodyPr/>
          <a:lstStyle/>
          <a:p>
            <a:endParaRPr lang="en-IN"/>
          </a:p>
        </p:txBody>
      </p:sp>
      <p:sp>
        <p:nvSpPr>
          <p:cNvPr id="12" name="Text 10"/>
          <p:cNvSpPr/>
          <p:nvPr/>
        </p:nvSpPr>
        <p:spPr>
          <a:xfrm>
            <a:off x="804672" y="3113532"/>
            <a:ext cx="7498080" cy="548640"/>
          </a:xfrm>
          <a:prstGeom prst="rect">
            <a:avLst/>
          </a:prstGeom>
          <a:noFill/>
          <a:ln/>
        </p:spPr>
        <p:txBody>
          <a:bodyPr wrap="square" rtlCol="0" anchor="ctr"/>
          <a:lstStyle/>
          <a:p>
            <a:pPr marL="0" indent="0">
              <a:buNone/>
            </a:pPr>
            <a:r>
              <a:rPr lang="en-US" sz="1300" dirty="0">
                <a:solidFill>
                  <a:srgbClr val="DBEAFE"/>
                </a:solidFill>
                <a:latin typeface="Calibri" pitchFamily="34" charset="0"/>
                <a:ea typeface="Calibri" pitchFamily="34" charset="-122"/>
                <a:cs typeface="Calibri" pitchFamily="34" charset="-120"/>
              </a:rPr>
              <a:t>Future scope: Integrate machine learning models to forecast upcoming seasonal demand and predict potential profit dips.</a:t>
            </a:r>
          </a:p>
        </p:txBody>
      </p:sp>
      <p:sp>
        <p:nvSpPr>
          <p:cNvPr id="16" name="Text 14"/>
          <p:cNvSpPr/>
          <p:nvPr/>
        </p:nvSpPr>
        <p:spPr>
          <a:xfrm>
            <a:off x="5760720" y="3931920"/>
            <a:ext cx="3108960" cy="731520"/>
          </a:xfrm>
          <a:prstGeom prst="rect">
            <a:avLst/>
          </a:prstGeom>
          <a:noFill/>
          <a:ln/>
        </p:spPr>
        <p:txBody>
          <a:bodyPr wrap="square" rtlCol="0" anchor="ctr"/>
          <a:lstStyle/>
          <a:p>
            <a:pPr marL="0" indent="0" algn="ctr">
              <a:buNone/>
            </a:pPr>
            <a:r>
              <a:rPr lang="en-US" sz="1400" b="1" dirty="0">
                <a:solidFill>
                  <a:srgbClr val="93C5FD"/>
                </a:solidFill>
                <a:latin typeface="Cambria" pitchFamily="34" charset="0"/>
                <a:ea typeface="Cambria" pitchFamily="34" charset="-122"/>
                <a:cs typeface="Cambria" pitchFamily="34" charset="-120"/>
              </a:rPr>
              <a:t>Questions &amp; Feedback Welcome</a:t>
            </a:r>
            <a:endParaRPr lang="en-US" sz="1400" dirty="0"/>
          </a:p>
        </p:txBody>
      </p:sp>
      <p:pic>
        <p:nvPicPr>
          <p:cNvPr id="19" name="Picture 18">
            <a:extLst>
              <a:ext uri="{FF2B5EF4-FFF2-40B4-BE49-F238E27FC236}">
                <a16:creationId xmlns:a16="http://schemas.microsoft.com/office/drawing/2014/main" id="{0250363D-7E8C-4EA8-83E8-389AEA3B5C1B}"/>
              </a:ext>
            </a:extLst>
          </p:cNvPr>
          <p:cNvPicPr>
            <a:picLocks noChangeAspect="1"/>
          </p:cNvPicPr>
          <p:nvPr/>
        </p:nvPicPr>
        <p:blipFill>
          <a:blip r:embed="rId3"/>
          <a:stretch>
            <a:fillRect/>
          </a:stretch>
        </p:blipFill>
        <p:spPr>
          <a:xfrm>
            <a:off x="0" y="8721"/>
            <a:ext cx="2151088" cy="4513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388</TotalTime>
  <Words>716</Words>
  <Application>Microsoft Office PowerPoint</Application>
  <PresentationFormat>On-screen Show (16:9)</PresentationFormat>
  <Paragraphs>121</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 Summer Training — Project Presentation</dc:title>
  <dc:subject>PptxGenJS Presentation</dc:subject>
  <dc:creator>PptxGenJS</dc:creator>
  <cp:lastModifiedBy>Rishav Thakur</cp:lastModifiedBy>
  <cp:revision>12</cp:revision>
  <dcterms:created xsi:type="dcterms:W3CDTF">2026-06-29T04:56:05Z</dcterms:created>
  <dcterms:modified xsi:type="dcterms:W3CDTF">2026-07-06T05:20:36Z</dcterms:modified>
</cp:coreProperties>
</file>